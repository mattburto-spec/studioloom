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1" r:id="rId4"/>
    <p:sldId id="262" r:id="rId5"/>
    <p:sldId id="257" r:id="rId6"/>
    <p:sldId id="258"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410"/>
    <p:restoredTop sz="94648"/>
  </p:normalViewPr>
  <p:slideViewPr>
    <p:cSldViewPr snapToGrid="0">
      <p:cViewPr varScale="1">
        <p:scale>
          <a:sx n="109" d="100"/>
          <a:sy n="109" d="100"/>
        </p:scale>
        <p:origin x="208"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5FF79-012E-5D16-4391-B209E784623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C5DD148-3C79-3F77-7A24-E83BB4BD1A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94EF241-4DA0-103C-E93B-DAB05F7F9570}"/>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5" name="Footer Placeholder 4">
            <a:extLst>
              <a:ext uri="{FF2B5EF4-FFF2-40B4-BE49-F238E27FC236}">
                <a16:creationId xmlns:a16="http://schemas.microsoft.com/office/drawing/2014/main" id="{C64C303E-FB0E-0ACE-ABAF-8CFC07F65C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F5BB0D-C6A2-B4DE-BB0C-F7D9ACD9021D}"/>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3536758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660A9-13B1-F778-1884-9018B8C7601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E30FD81-204D-4707-D856-BF439381244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220CEDE-3429-3746-AA0A-E84F520876CD}"/>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5" name="Footer Placeholder 4">
            <a:extLst>
              <a:ext uri="{FF2B5EF4-FFF2-40B4-BE49-F238E27FC236}">
                <a16:creationId xmlns:a16="http://schemas.microsoft.com/office/drawing/2014/main" id="{DDD08AB4-21AF-35A1-34C0-B29E6986D7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64E64F-B2F0-0458-DDB7-B01A8703D472}"/>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2486939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BF7E9-7E95-3A52-2016-DCBC7430633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9E7095A-AB3C-75D8-A5BA-D981ADE5B6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90A317C-3239-3C7B-F3DF-1C0BCA81AC5E}"/>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5" name="Footer Placeholder 4">
            <a:extLst>
              <a:ext uri="{FF2B5EF4-FFF2-40B4-BE49-F238E27FC236}">
                <a16:creationId xmlns:a16="http://schemas.microsoft.com/office/drawing/2014/main" id="{04A6C31D-BC43-79F3-E33C-2BC9ED0F2F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50A1C6-C7A2-AA2E-69E7-8B0F0974A036}"/>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1416910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93B0C-DCB5-FB9E-2E23-E91D917C66F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104FA2D-F651-1C94-0F20-5B6AB921435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DEFAF66-9A0F-1BAD-6F7D-FD9A3B1858F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509071F-495D-00A2-3B26-C6A26F22D080}"/>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6" name="Footer Placeholder 5">
            <a:extLst>
              <a:ext uri="{FF2B5EF4-FFF2-40B4-BE49-F238E27FC236}">
                <a16:creationId xmlns:a16="http://schemas.microsoft.com/office/drawing/2014/main" id="{7D676D73-D70A-0485-7BE4-E0BB08462A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757C06-FF50-9C38-9D6B-45ED24AFE432}"/>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783391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3BB28-E32A-7F62-28EB-4C9E144FCBD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053DF8F-F1F9-3D30-DD30-3401F5A918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66A5964-14AD-9A55-9274-7DEAEE1EC7C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DEADA71-7463-5BB4-751B-95A46010FA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FF041F6-8DAB-5720-1C71-423212CEFED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D720444-F890-24EE-FA4F-03B5CC261D34}"/>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8" name="Footer Placeholder 7">
            <a:extLst>
              <a:ext uri="{FF2B5EF4-FFF2-40B4-BE49-F238E27FC236}">
                <a16:creationId xmlns:a16="http://schemas.microsoft.com/office/drawing/2014/main" id="{6B25A00E-9CE9-B347-FA6C-8579A358F4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8D8C5F-FF55-A636-CA43-13E0BF052896}"/>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1260496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745EA-6D5A-8796-D2F4-E1734E41089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F84708-3D65-F5E1-A918-CB56ED8FB09A}"/>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4" name="Footer Placeholder 3">
            <a:extLst>
              <a:ext uri="{FF2B5EF4-FFF2-40B4-BE49-F238E27FC236}">
                <a16:creationId xmlns:a16="http://schemas.microsoft.com/office/drawing/2014/main" id="{FBCB1F4D-7C43-97B2-8F79-07379AD085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1A5946-15F4-DA6A-465A-1495C65F84D8}"/>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2180242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A47B4D-BF92-1F94-9B5C-B575B6757EFA}"/>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3" name="Footer Placeholder 2">
            <a:extLst>
              <a:ext uri="{FF2B5EF4-FFF2-40B4-BE49-F238E27FC236}">
                <a16:creationId xmlns:a16="http://schemas.microsoft.com/office/drawing/2014/main" id="{0E12A414-F020-6327-B9EA-95C722CBD3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7A1CE3-CAA8-778B-C7E2-4064DB1F51D0}"/>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453949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F0288-12F9-A885-108F-97B8B1BEBCB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C5CFC01-69B3-E42E-27B8-0BCBE9643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6AC4AC6-4470-C686-384A-4306FC87D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C586DA8-F4FA-BDB1-6EBB-CF3C48DD950A}"/>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6" name="Footer Placeholder 5">
            <a:extLst>
              <a:ext uri="{FF2B5EF4-FFF2-40B4-BE49-F238E27FC236}">
                <a16:creationId xmlns:a16="http://schemas.microsoft.com/office/drawing/2014/main" id="{08E4F025-06B1-BF44-957D-8111D3C727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E31355-2841-90A4-4621-9CE912D624BD}"/>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2302488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7B738-6E8F-BC8E-87B7-B6B02C46682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7AC4962-C306-E98B-578C-DC155F9D54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7FB9D-1B1B-2664-7F5B-E30C136B2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5B205E-7CD3-DC06-19E8-63BA8DD4B6F4}"/>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6" name="Footer Placeholder 5">
            <a:extLst>
              <a:ext uri="{FF2B5EF4-FFF2-40B4-BE49-F238E27FC236}">
                <a16:creationId xmlns:a16="http://schemas.microsoft.com/office/drawing/2014/main" id="{4A6011F9-5801-72EF-7C54-03753B3BE4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5AE32-A7D0-A97B-74A1-519DDBED4CEA}"/>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409708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C301-B255-9CC1-9524-C6619948197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41A331-DBE5-39BF-AE8E-D9A0C46E94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076A7BF-66D3-22E9-2D75-4F79D758B152}"/>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5" name="Footer Placeholder 4">
            <a:extLst>
              <a:ext uri="{FF2B5EF4-FFF2-40B4-BE49-F238E27FC236}">
                <a16:creationId xmlns:a16="http://schemas.microsoft.com/office/drawing/2014/main" id="{8D44750D-AB07-A508-EFAC-E1DD85D088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0E98DC-081F-BC4A-1D54-FC9F2F103554}"/>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3683252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CD7095-D46D-FD8E-A3DF-882B52A5469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C61D058-CAFA-E50A-DC4F-5DB17B60D18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61EA027-F6CA-41D4-77BB-0AC28E153EA5}"/>
              </a:ext>
            </a:extLst>
          </p:cNvPr>
          <p:cNvSpPr>
            <a:spLocks noGrp="1"/>
          </p:cNvSpPr>
          <p:nvPr>
            <p:ph type="dt" sz="half" idx="10"/>
          </p:nvPr>
        </p:nvSpPr>
        <p:spPr/>
        <p:txBody>
          <a:bodyPr/>
          <a:lstStyle/>
          <a:p>
            <a:fld id="{8192E3A0-E5C1-A04E-AAE4-A08B8892979D}" type="datetimeFigureOut">
              <a:rPr lang="en-US" smtClean="0"/>
              <a:t>2/1/26</a:t>
            </a:fld>
            <a:endParaRPr lang="en-US"/>
          </a:p>
        </p:txBody>
      </p:sp>
      <p:sp>
        <p:nvSpPr>
          <p:cNvPr id="5" name="Footer Placeholder 4">
            <a:extLst>
              <a:ext uri="{FF2B5EF4-FFF2-40B4-BE49-F238E27FC236}">
                <a16:creationId xmlns:a16="http://schemas.microsoft.com/office/drawing/2014/main" id="{B5080518-86A5-6113-9636-1A411BC450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C02A77-ACD5-B2AE-B391-415CA602727B}"/>
              </a:ext>
            </a:extLst>
          </p:cNvPr>
          <p:cNvSpPr>
            <a:spLocks noGrp="1"/>
          </p:cNvSpPr>
          <p:nvPr>
            <p:ph type="sldNum" sz="quarter" idx="12"/>
          </p:nvPr>
        </p:nvSpPr>
        <p:spPr/>
        <p:txBody>
          <a:bodyPr/>
          <a:lstStyle/>
          <a:p>
            <a:fld id="{8C460ACD-49E7-2E4D-9917-F239CA5580C3}" type="slidenum">
              <a:rPr lang="en-US" smtClean="0"/>
              <a:t>‹#›</a:t>
            </a:fld>
            <a:endParaRPr lang="en-US"/>
          </a:p>
        </p:txBody>
      </p:sp>
    </p:spTree>
    <p:extLst>
      <p:ext uri="{BB962C8B-B14F-4D97-AF65-F5344CB8AC3E}">
        <p14:creationId xmlns:p14="http://schemas.microsoft.com/office/powerpoint/2010/main" val="2961332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FE81EF-1758-919D-87E8-64857CAB61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8DFB1AE-0E7B-A8D4-7DCE-FF32E5ADD0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057F556-F07F-BA64-9351-5FD8DFEBF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92E3A0-E5C1-A04E-AAE4-A08B8892979D}" type="datetimeFigureOut">
              <a:rPr lang="en-US" smtClean="0"/>
              <a:t>2/1/26</a:t>
            </a:fld>
            <a:endParaRPr lang="en-US"/>
          </a:p>
        </p:txBody>
      </p:sp>
      <p:sp>
        <p:nvSpPr>
          <p:cNvPr id="5" name="Footer Placeholder 4">
            <a:extLst>
              <a:ext uri="{FF2B5EF4-FFF2-40B4-BE49-F238E27FC236}">
                <a16:creationId xmlns:a16="http://schemas.microsoft.com/office/drawing/2014/main" id="{DF708678-EAB5-C3CB-51BB-D2AD2A572B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B32686-9AAB-C65E-2A5B-47446C301B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460ACD-49E7-2E4D-9917-F239CA5580C3}" type="slidenum">
              <a:rPr lang="en-US" smtClean="0"/>
              <a:t>‹#›</a:t>
            </a:fld>
            <a:endParaRPr lang="en-US"/>
          </a:p>
        </p:txBody>
      </p:sp>
    </p:spTree>
    <p:extLst>
      <p:ext uri="{BB962C8B-B14F-4D97-AF65-F5344CB8AC3E}">
        <p14:creationId xmlns:p14="http://schemas.microsoft.com/office/powerpoint/2010/main" val="3774450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7491E3-5ED4-2CD7-7F79-78D4DAB6D403}"/>
              </a:ext>
            </a:extLst>
          </p:cNvPr>
          <p:cNvSpPr txBox="1"/>
          <p:nvPr/>
        </p:nvSpPr>
        <p:spPr>
          <a:xfrm>
            <a:off x="381862" y="1309003"/>
            <a:ext cx="11428276" cy="3364960"/>
          </a:xfrm>
          <a:prstGeom prst="rect">
            <a:avLst/>
          </a:prstGeom>
          <a:noFill/>
        </p:spPr>
        <p:txBody>
          <a:bodyPr wrap="square">
            <a:spAutoFit/>
          </a:bodyPr>
          <a:lstStyle/>
          <a:p>
            <a:pPr>
              <a:lnSpc>
                <a:spcPct val="150000"/>
              </a:lnSpc>
            </a:pPr>
            <a:r>
              <a:rPr lang="en-AU" b="1" dirty="0"/>
              <a:t>The Goal:</a:t>
            </a:r>
            <a:br>
              <a:rPr lang="en-AU" dirty="0"/>
            </a:br>
            <a:r>
              <a:rPr lang="en-AU" dirty="0"/>
              <a:t>You have chosen your fastest design. Now you must translate your sketch into a precise </a:t>
            </a:r>
            <a:r>
              <a:rPr lang="en-AU" b="1" dirty="0"/>
              <a:t>Engineering Blueprint</a:t>
            </a:r>
            <a:r>
              <a:rPr lang="en-AU" dirty="0"/>
              <a:t>.</a:t>
            </a:r>
            <a:br>
              <a:rPr lang="en-AU" dirty="0"/>
            </a:br>
            <a:r>
              <a:rPr lang="en-AU" dirty="0"/>
              <a:t>This drawing is </a:t>
            </a:r>
            <a:r>
              <a:rPr lang="en-AU" b="1" dirty="0"/>
              <a:t>1:1 Scale</a:t>
            </a:r>
            <a:r>
              <a:rPr lang="en-AU" dirty="0"/>
              <a:t>. This means it is the </a:t>
            </a:r>
            <a:r>
              <a:rPr lang="en-AU" b="1" dirty="0"/>
              <a:t>exact real-life size</a:t>
            </a:r>
            <a:r>
              <a:rPr lang="en-AU" dirty="0"/>
              <a:t> of your future car.</a:t>
            </a:r>
          </a:p>
          <a:p>
            <a:pPr>
              <a:lnSpc>
                <a:spcPct val="150000"/>
              </a:lnSpc>
            </a:pPr>
            <a:r>
              <a:rPr lang="en-AU" b="1" dirty="0"/>
              <a:t>Why do we do this?</a:t>
            </a:r>
            <a:endParaRPr lang="en-AU" dirty="0"/>
          </a:p>
          <a:p>
            <a:pPr>
              <a:lnSpc>
                <a:spcPct val="150000"/>
              </a:lnSpc>
            </a:pPr>
            <a:r>
              <a:rPr lang="en-AU" b="1" dirty="0"/>
              <a:t>CAM Preparation:</a:t>
            </a:r>
            <a:r>
              <a:rPr lang="en-AU" dirty="0"/>
              <a:t> You will trace this drawing into the computer (CAD) later. If the drawing is wrong, the computer file will be wrong.</a:t>
            </a:r>
          </a:p>
          <a:p>
            <a:pPr>
              <a:lnSpc>
                <a:spcPct val="150000"/>
              </a:lnSpc>
            </a:pPr>
            <a:r>
              <a:rPr lang="en-AU" b="1" dirty="0"/>
              <a:t>The Rules:</a:t>
            </a:r>
            <a:r>
              <a:rPr lang="en-AU" dirty="0"/>
              <a:t> We must check if your car fits the official race specifications</a:t>
            </a:r>
            <a:br>
              <a:rPr lang="en-AU" b="0" i="0" dirty="0">
                <a:solidFill>
                  <a:srgbClr val="475467"/>
                </a:solidFill>
                <a:effectLst/>
                <a:latin typeface="Arial" panose="020B0604020202020204" pitchFamily="34" charset="0"/>
              </a:rPr>
            </a:br>
            <a:endParaRPr lang="en-AU" b="0" i="0" dirty="0">
              <a:solidFill>
                <a:srgbClr val="475467"/>
              </a:solidFill>
              <a:effectLst/>
              <a:latin typeface="Arial" panose="020B0604020202020204" pitchFamily="34" charset="0"/>
            </a:endParaRPr>
          </a:p>
        </p:txBody>
      </p:sp>
      <p:sp>
        <p:nvSpPr>
          <p:cNvPr id="6" name="Title 1">
            <a:extLst>
              <a:ext uri="{FF2B5EF4-FFF2-40B4-BE49-F238E27FC236}">
                <a16:creationId xmlns:a16="http://schemas.microsoft.com/office/drawing/2014/main" id="{562B2093-4A88-4C8D-BE06-933DB4F89B20}"/>
              </a:ext>
            </a:extLst>
          </p:cNvPr>
          <p:cNvSpPr txBox="1">
            <a:spLocks/>
          </p:cNvSpPr>
          <p:nvPr/>
        </p:nvSpPr>
        <p:spPr>
          <a:xfrm>
            <a:off x="855784" y="365125"/>
            <a:ext cx="11336215" cy="830629"/>
          </a:xfrm>
          <a:prstGeom prst="rect">
            <a:avLst/>
          </a:prstGeom>
        </p:spPr>
        <p:txBody>
          <a:bodyPr vert="horz" lIns="91440" tIns="45720" rIns="91440" bIns="45720" rtlCol="0" anchor="t">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Task: The Engineering Blueprint (1:1 Scale)</a:t>
            </a:r>
            <a:endParaRPr lang="en-US" dirty="0"/>
          </a:p>
        </p:txBody>
      </p:sp>
      <p:pic>
        <p:nvPicPr>
          <p:cNvPr id="7" name="Picture 6">
            <a:extLst>
              <a:ext uri="{FF2B5EF4-FFF2-40B4-BE49-F238E27FC236}">
                <a16:creationId xmlns:a16="http://schemas.microsoft.com/office/drawing/2014/main" id="{61A30DD9-CCCF-9FB6-1C4B-D99CFCE042E0}"/>
              </a:ext>
            </a:extLst>
          </p:cNvPr>
          <p:cNvPicPr>
            <a:picLocks noChangeAspect="1"/>
          </p:cNvPicPr>
          <p:nvPr/>
        </p:nvPicPr>
        <p:blipFill>
          <a:blip r:embed="rId2"/>
          <a:stretch>
            <a:fillRect/>
          </a:stretch>
        </p:blipFill>
        <p:spPr>
          <a:xfrm>
            <a:off x="7619999" y="4413298"/>
            <a:ext cx="3733801" cy="2233686"/>
          </a:xfrm>
          <a:prstGeom prst="rect">
            <a:avLst/>
          </a:prstGeom>
        </p:spPr>
      </p:pic>
    </p:spTree>
    <p:extLst>
      <p:ext uri="{BB962C8B-B14F-4D97-AF65-F5344CB8AC3E}">
        <p14:creationId xmlns:p14="http://schemas.microsoft.com/office/powerpoint/2010/main" val="2108110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50E2C-9BDE-43A4-282C-13104A777E3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3C7F96E-05FA-7549-5B93-F447E893B887}"/>
              </a:ext>
            </a:extLst>
          </p:cNvPr>
          <p:cNvSpPr txBox="1"/>
          <p:nvPr/>
        </p:nvSpPr>
        <p:spPr>
          <a:xfrm>
            <a:off x="490822" y="1740935"/>
            <a:ext cx="11428276" cy="5001369"/>
          </a:xfrm>
          <a:prstGeom prst="rect">
            <a:avLst/>
          </a:prstGeom>
          <a:noFill/>
        </p:spPr>
        <p:txBody>
          <a:bodyPr wrap="square">
            <a:spAutoFit/>
          </a:bodyPr>
          <a:lstStyle/>
          <a:p>
            <a:pPr algn="l">
              <a:spcAft>
                <a:spcPts val="700"/>
              </a:spcAft>
            </a:pPr>
            <a:r>
              <a:rPr lang="en-AU" sz="1800" b="0" i="0" dirty="0">
                <a:effectLst/>
                <a:latin typeface="Calibri" panose="020F0502020204030204" pitchFamily="34" charset="0"/>
              </a:rPr>
              <a:t>The working drawing is a precise, 1:1 scale drawing that describes your car, its dimensions, and its features. </a:t>
            </a:r>
          </a:p>
          <a:p>
            <a:pPr algn="l">
              <a:spcAft>
                <a:spcPts val="700"/>
              </a:spcAft>
            </a:pPr>
            <a:r>
              <a:rPr lang="en-AU" sz="1800" b="0" i="0" dirty="0">
                <a:effectLst/>
                <a:latin typeface="Calibri" panose="020F0502020204030204" pitchFamily="34" charset="0"/>
              </a:rPr>
              <a:t>Working drawings should have top and side, or profile, views. An accurate working drawing is important for two reasons: 1) A copy of the working drawing serves as a template for making a CAD model and </a:t>
            </a:r>
          </a:p>
          <a:p>
            <a:pPr algn="l">
              <a:spcAft>
                <a:spcPts val="700"/>
              </a:spcAft>
            </a:pPr>
            <a:r>
              <a:rPr lang="en-AU" sz="1800" b="0" i="0" dirty="0">
                <a:effectLst/>
                <a:latin typeface="Calibri" panose="020F0502020204030204" pitchFamily="34" charset="0"/>
              </a:rPr>
              <a:t>2) rough-cutting your car blank.  </a:t>
            </a:r>
          </a:p>
          <a:p>
            <a:pPr algn="l">
              <a:spcAft>
                <a:spcPts val="700"/>
              </a:spcAft>
            </a:pPr>
            <a:r>
              <a:rPr lang="en-AU" sz="1200" b="0" i="0" dirty="0">
                <a:effectLst/>
                <a:latin typeface="Calibri" panose="020F0502020204030204" pitchFamily="34" charset="0"/>
              </a:rPr>
              <a:t> </a:t>
            </a:r>
          </a:p>
          <a:p>
            <a:pPr algn="l">
              <a:spcAft>
                <a:spcPts val="700"/>
              </a:spcAft>
            </a:pPr>
            <a:r>
              <a:rPr lang="en-AU" sz="1800" b="1" i="0" dirty="0">
                <a:effectLst/>
                <a:latin typeface="Calibri" panose="020F0502020204030204" pitchFamily="34" charset="0"/>
              </a:rPr>
              <a:t>Step 1: </a:t>
            </a:r>
            <a:r>
              <a:rPr lang="en-AU" sz="1800" b="0" i="0" dirty="0">
                <a:effectLst/>
                <a:latin typeface="Calibri" panose="020F0502020204030204" pitchFamily="34" charset="0"/>
              </a:rPr>
              <a:t>Choose your design</a:t>
            </a:r>
          </a:p>
          <a:p>
            <a:pPr algn="l">
              <a:spcAft>
                <a:spcPts val="700"/>
              </a:spcAft>
            </a:pPr>
            <a:r>
              <a:rPr lang="en-AU" sz="1800" b="1" i="0" dirty="0">
                <a:effectLst/>
                <a:latin typeface="Calibri" panose="020F0502020204030204" pitchFamily="34" charset="0"/>
              </a:rPr>
              <a:t>Step 2: </a:t>
            </a:r>
            <a:r>
              <a:rPr lang="en-AU" sz="1800" b="0" i="0" dirty="0">
                <a:effectLst/>
                <a:latin typeface="Calibri" panose="020F0502020204030204" pitchFamily="34" charset="0"/>
              </a:rPr>
              <a:t>Draw the top and side on the grid paper (supplied) </a:t>
            </a:r>
          </a:p>
          <a:p>
            <a:pPr>
              <a:spcAft>
                <a:spcPts val="750"/>
              </a:spcAft>
            </a:pPr>
            <a:r>
              <a:rPr lang="en-US" dirty="0"/>
              <a:t>Make light projection lines from one view to the other to help you locate axle holes and other features of your design. Show the location of hidden details (such as the cartridge hole) by using dashed lines. Check the specifications.   Look at your design sketch to see how each spec applies to your design. You may find it necessary to take notes or even change your design. </a:t>
            </a:r>
          </a:p>
          <a:p>
            <a:pPr>
              <a:spcAft>
                <a:spcPts val="750"/>
              </a:spcAft>
            </a:pPr>
            <a:r>
              <a:rPr lang="en-US" dirty="0"/>
              <a:t>Include all key dimensions </a:t>
            </a:r>
            <a:r>
              <a:rPr lang="en-AU" dirty="0"/>
              <a:t>(</a:t>
            </a:r>
            <a:r>
              <a:rPr lang="en-AU" dirty="0" err="1"/>
              <a:t>eg.</a:t>
            </a:r>
            <a:r>
              <a:rPr lang="en-AU" dirty="0"/>
              <a:t> </a:t>
            </a:r>
            <a:r>
              <a:rPr lang="en-AU" b="1" dirty="0"/>
              <a:t>Total Length</a:t>
            </a:r>
            <a:r>
              <a:rPr lang="en-AU" dirty="0"/>
              <a:t>, </a:t>
            </a:r>
            <a:r>
              <a:rPr lang="en-AU" b="1" dirty="0"/>
              <a:t>Width at wheels</a:t>
            </a:r>
            <a:r>
              <a:rPr lang="en-AU" dirty="0"/>
              <a:t>, and </a:t>
            </a:r>
            <a:r>
              <a:rPr lang="en-AU" b="1" dirty="0"/>
              <a:t>Wheelbase)</a:t>
            </a:r>
            <a:r>
              <a:rPr lang="en-AU" dirty="0"/>
              <a:t>.</a:t>
            </a:r>
            <a:endParaRPr lang="en-US" dirty="0"/>
          </a:p>
          <a:p>
            <a:pPr>
              <a:spcAft>
                <a:spcPts val="750"/>
              </a:spcAft>
            </a:pPr>
            <a:r>
              <a:rPr lang="en-US" dirty="0"/>
              <a:t>Annotate key features.</a:t>
            </a:r>
          </a:p>
          <a:p>
            <a:pPr algn="l">
              <a:spcAft>
                <a:spcPts val="750"/>
              </a:spcAft>
            </a:pPr>
            <a:br>
              <a:rPr lang="en-AU" b="0" i="0" dirty="0">
                <a:solidFill>
                  <a:srgbClr val="475467"/>
                </a:solidFill>
                <a:effectLst/>
                <a:latin typeface="Arial" panose="020B0604020202020204" pitchFamily="34" charset="0"/>
              </a:rPr>
            </a:br>
            <a:endParaRPr lang="en-AU" b="0" i="0" dirty="0">
              <a:solidFill>
                <a:srgbClr val="475467"/>
              </a:solidFill>
              <a:effectLst/>
              <a:latin typeface="Arial" panose="020B0604020202020204" pitchFamily="34" charset="0"/>
            </a:endParaRPr>
          </a:p>
        </p:txBody>
      </p:sp>
      <p:sp>
        <p:nvSpPr>
          <p:cNvPr id="6" name="Title 1">
            <a:extLst>
              <a:ext uri="{FF2B5EF4-FFF2-40B4-BE49-F238E27FC236}">
                <a16:creationId xmlns:a16="http://schemas.microsoft.com/office/drawing/2014/main" id="{06A89E25-4EC9-8BBB-BB48-7B3AA1FF02A0}"/>
              </a:ext>
            </a:extLst>
          </p:cNvPr>
          <p:cNvSpPr txBox="1">
            <a:spLocks/>
          </p:cNvSpPr>
          <p:nvPr/>
        </p:nvSpPr>
        <p:spPr>
          <a:xfrm>
            <a:off x="855784" y="365125"/>
            <a:ext cx="11336215" cy="830629"/>
          </a:xfrm>
          <a:prstGeom prst="rect">
            <a:avLst/>
          </a:prstGeom>
        </p:spPr>
        <p:txBody>
          <a:bodyPr vert="horz" lIns="91440" tIns="45720" rIns="91440" bIns="45720" rtlCol="0" anchor="t">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Task: The Engineering Blueprint (1:1 Scale)</a:t>
            </a:r>
            <a:endParaRPr lang="en-US" dirty="0"/>
          </a:p>
        </p:txBody>
      </p:sp>
    </p:spTree>
    <p:extLst>
      <p:ext uri="{BB962C8B-B14F-4D97-AF65-F5344CB8AC3E}">
        <p14:creationId xmlns:p14="http://schemas.microsoft.com/office/powerpoint/2010/main" val="3948200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DBCCC-7CE8-2058-E623-66B517FEC22C}"/>
              </a:ext>
            </a:extLst>
          </p:cNvPr>
          <p:cNvSpPr>
            <a:spLocks noGrp="1"/>
          </p:cNvSpPr>
          <p:nvPr>
            <p:ph type="title"/>
          </p:nvPr>
        </p:nvSpPr>
        <p:spPr>
          <a:xfrm>
            <a:off x="576943" y="0"/>
            <a:ext cx="10515600" cy="1325563"/>
          </a:xfrm>
        </p:spPr>
        <p:txBody>
          <a:bodyPr/>
          <a:lstStyle/>
          <a:p>
            <a:r>
              <a:rPr lang="en-US" dirty="0"/>
              <a:t>Design Constraints #1</a:t>
            </a:r>
          </a:p>
        </p:txBody>
      </p:sp>
      <p:pic>
        <p:nvPicPr>
          <p:cNvPr id="5" name="Picture 4" descr="A list of vehicles with text and numbers&#10;&#10;AI-generated content may be incorrect.">
            <a:extLst>
              <a:ext uri="{FF2B5EF4-FFF2-40B4-BE49-F238E27FC236}">
                <a16:creationId xmlns:a16="http://schemas.microsoft.com/office/drawing/2014/main" id="{7364C65A-A1A2-C9FC-0995-2ABE551579A7}"/>
              </a:ext>
            </a:extLst>
          </p:cNvPr>
          <p:cNvPicPr>
            <a:picLocks noChangeAspect="1"/>
          </p:cNvPicPr>
          <p:nvPr/>
        </p:nvPicPr>
        <p:blipFill>
          <a:blip r:embed="rId2"/>
          <a:srcRect t="967"/>
          <a:stretch>
            <a:fillRect/>
          </a:stretch>
        </p:blipFill>
        <p:spPr>
          <a:xfrm>
            <a:off x="1754881" y="1523999"/>
            <a:ext cx="9598919" cy="4968875"/>
          </a:xfrm>
          <a:prstGeom prst="rect">
            <a:avLst/>
          </a:prstGeom>
        </p:spPr>
      </p:pic>
    </p:spTree>
    <p:extLst>
      <p:ext uri="{BB962C8B-B14F-4D97-AF65-F5344CB8AC3E}">
        <p14:creationId xmlns:p14="http://schemas.microsoft.com/office/powerpoint/2010/main" val="2109808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A6369-7220-6949-81AE-8CB38128D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4F590-AD02-73B7-D31E-C07C3795D3E5}"/>
              </a:ext>
            </a:extLst>
          </p:cNvPr>
          <p:cNvSpPr>
            <a:spLocks noGrp="1"/>
          </p:cNvSpPr>
          <p:nvPr>
            <p:ph type="title"/>
          </p:nvPr>
        </p:nvSpPr>
        <p:spPr>
          <a:xfrm>
            <a:off x="576943" y="0"/>
            <a:ext cx="10515600" cy="1325563"/>
          </a:xfrm>
        </p:spPr>
        <p:txBody>
          <a:bodyPr/>
          <a:lstStyle/>
          <a:p>
            <a:r>
              <a:rPr lang="en-US" dirty="0"/>
              <a:t>Design Constraints #2</a:t>
            </a:r>
          </a:p>
        </p:txBody>
      </p:sp>
      <p:pic>
        <p:nvPicPr>
          <p:cNvPr id="4" name="Picture 3" descr="A list of measurements&#10;&#10;AI-generated content may be incorrect.">
            <a:extLst>
              <a:ext uri="{FF2B5EF4-FFF2-40B4-BE49-F238E27FC236}">
                <a16:creationId xmlns:a16="http://schemas.microsoft.com/office/drawing/2014/main" id="{863EB44F-305F-6C41-0538-0856E384AA6F}"/>
              </a:ext>
            </a:extLst>
          </p:cNvPr>
          <p:cNvPicPr>
            <a:picLocks noChangeAspect="1"/>
          </p:cNvPicPr>
          <p:nvPr/>
        </p:nvPicPr>
        <p:blipFill>
          <a:blip r:embed="rId2"/>
          <a:stretch>
            <a:fillRect/>
          </a:stretch>
        </p:blipFill>
        <p:spPr>
          <a:xfrm>
            <a:off x="1722389" y="1477109"/>
            <a:ext cx="8747221" cy="5039383"/>
          </a:xfrm>
          <a:prstGeom prst="rect">
            <a:avLst/>
          </a:prstGeom>
        </p:spPr>
      </p:pic>
    </p:spTree>
    <p:extLst>
      <p:ext uri="{BB962C8B-B14F-4D97-AF65-F5344CB8AC3E}">
        <p14:creationId xmlns:p14="http://schemas.microsoft.com/office/powerpoint/2010/main" val="830168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BFC53-E0CC-A230-A84A-A7464EF7C4F2}"/>
              </a:ext>
            </a:extLst>
          </p:cNvPr>
          <p:cNvSpPr>
            <a:spLocks noGrp="1"/>
          </p:cNvSpPr>
          <p:nvPr>
            <p:ph type="title"/>
          </p:nvPr>
        </p:nvSpPr>
        <p:spPr/>
        <p:txBody>
          <a:bodyPr/>
          <a:lstStyle/>
          <a:p>
            <a:r>
              <a:rPr lang="en-US" dirty="0"/>
              <a:t>Photo of working drawing</a:t>
            </a:r>
          </a:p>
        </p:txBody>
      </p:sp>
      <p:sp>
        <p:nvSpPr>
          <p:cNvPr id="5" name="TextBox 4">
            <a:extLst>
              <a:ext uri="{FF2B5EF4-FFF2-40B4-BE49-F238E27FC236}">
                <a16:creationId xmlns:a16="http://schemas.microsoft.com/office/drawing/2014/main" id="{BC7A3152-9052-770A-5E7E-6CC4BE9EE26D}"/>
              </a:ext>
            </a:extLst>
          </p:cNvPr>
          <p:cNvSpPr txBox="1"/>
          <p:nvPr/>
        </p:nvSpPr>
        <p:spPr>
          <a:xfrm>
            <a:off x="2303584" y="3691989"/>
            <a:ext cx="7584831" cy="369332"/>
          </a:xfrm>
          <a:prstGeom prst="rect">
            <a:avLst/>
          </a:prstGeom>
          <a:noFill/>
        </p:spPr>
        <p:txBody>
          <a:bodyPr wrap="square">
            <a:spAutoFit/>
          </a:bodyPr>
          <a:lstStyle/>
          <a:p>
            <a:pPr algn="l">
              <a:spcAft>
                <a:spcPts val="700"/>
              </a:spcAft>
            </a:pPr>
            <a:r>
              <a:rPr lang="en-AU" sz="1800" b="1" i="0" dirty="0">
                <a:solidFill>
                  <a:srgbClr val="475467"/>
                </a:solidFill>
                <a:effectLst/>
                <a:latin typeface="Calibri" panose="020F0502020204030204" pitchFamily="34" charset="0"/>
              </a:rPr>
              <a:t>Step 3</a:t>
            </a:r>
            <a:r>
              <a:rPr lang="en-AU" sz="1800" b="0" i="0" dirty="0">
                <a:solidFill>
                  <a:srgbClr val="475467"/>
                </a:solidFill>
                <a:effectLst/>
                <a:latin typeface="Calibri" panose="020F0502020204030204" pitchFamily="34" charset="0"/>
              </a:rPr>
              <a:t>: Take a photo of the paper </a:t>
            </a:r>
            <a:r>
              <a:rPr lang="en-AU" dirty="0">
                <a:solidFill>
                  <a:srgbClr val="475467"/>
                </a:solidFill>
                <a:latin typeface="Calibri" panose="020F0502020204030204" pitchFamily="34" charset="0"/>
              </a:rPr>
              <a:t>in the light box and upload to this task</a:t>
            </a:r>
            <a:endParaRPr lang="en-AU" sz="1800" b="0" i="0" dirty="0">
              <a:solidFill>
                <a:srgbClr val="475467"/>
              </a:solidFill>
              <a:effectLst/>
              <a:latin typeface="Calibri" panose="020F0502020204030204" pitchFamily="34" charset="0"/>
            </a:endParaRPr>
          </a:p>
        </p:txBody>
      </p:sp>
    </p:spTree>
    <p:extLst>
      <p:ext uri="{BB962C8B-B14F-4D97-AF65-F5344CB8AC3E}">
        <p14:creationId xmlns:p14="http://schemas.microsoft.com/office/powerpoint/2010/main" val="2485204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131EC-DB12-3840-59BF-1FAD171D8C3E}"/>
              </a:ext>
            </a:extLst>
          </p:cNvPr>
          <p:cNvSpPr>
            <a:spLocks noGrp="1"/>
          </p:cNvSpPr>
          <p:nvPr>
            <p:ph type="title"/>
          </p:nvPr>
        </p:nvSpPr>
        <p:spPr>
          <a:xfrm>
            <a:off x="550986" y="107217"/>
            <a:ext cx="10515600" cy="1325563"/>
          </a:xfrm>
        </p:spPr>
        <p:txBody>
          <a:bodyPr/>
          <a:lstStyle/>
          <a:p>
            <a:r>
              <a:rPr lang="en-US" dirty="0"/>
              <a:t>Safety Checks (Must Pass Before Racing)</a:t>
            </a:r>
          </a:p>
        </p:txBody>
      </p:sp>
      <p:graphicFrame>
        <p:nvGraphicFramePr>
          <p:cNvPr id="11" name="Table 10">
            <a:extLst>
              <a:ext uri="{FF2B5EF4-FFF2-40B4-BE49-F238E27FC236}">
                <a16:creationId xmlns:a16="http://schemas.microsoft.com/office/drawing/2014/main" id="{3A9D2DE1-C5AC-3116-1D52-AE47648A4931}"/>
              </a:ext>
            </a:extLst>
          </p:cNvPr>
          <p:cNvGraphicFramePr>
            <a:graphicFrameLocks noGrp="1"/>
          </p:cNvGraphicFramePr>
          <p:nvPr>
            <p:extLst>
              <p:ext uri="{D42A27DB-BD31-4B8C-83A1-F6EECF244321}">
                <p14:modId xmlns:p14="http://schemas.microsoft.com/office/powerpoint/2010/main" val="459762127"/>
              </p:ext>
            </p:extLst>
          </p:nvPr>
        </p:nvGraphicFramePr>
        <p:xfrm>
          <a:off x="550985" y="1547446"/>
          <a:ext cx="10996245" cy="4865077"/>
        </p:xfrm>
        <a:graphic>
          <a:graphicData uri="http://schemas.openxmlformats.org/drawingml/2006/table">
            <a:tbl>
              <a:tblPr>
                <a:tableStyleId>{775DCB02-9BB8-47FD-8907-85C794F793BA}</a:tableStyleId>
              </a:tblPr>
              <a:tblGrid>
                <a:gridCol w="2199249">
                  <a:extLst>
                    <a:ext uri="{9D8B030D-6E8A-4147-A177-3AD203B41FA5}">
                      <a16:colId xmlns:a16="http://schemas.microsoft.com/office/drawing/2014/main" val="2478599644"/>
                    </a:ext>
                  </a:extLst>
                </a:gridCol>
                <a:gridCol w="2199249">
                  <a:extLst>
                    <a:ext uri="{9D8B030D-6E8A-4147-A177-3AD203B41FA5}">
                      <a16:colId xmlns:a16="http://schemas.microsoft.com/office/drawing/2014/main" val="2498162733"/>
                    </a:ext>
                  </a:extLst>
                </a:gridCol>
                <a:gridCol w="2199249">
                  <a:extLst>
                    <a:ext uri="{9D8B030D-6E8A-4147-A177-3AD203B41FA5}">
                      <a16:colId xmlns:a16="http://schemas.microsoft.com/office/drawing/2014/main" val="1464933282"/>
                    </a:ext>
                  </a:extLst>
                </a:gridCol>
                <a:gridCol w="2199249">
                  <a:extLst>
                    <a:ext uri="{9D8B030D-6E8A-4147-A177-3AD203B41FA5}">
                      <a16:colId xmlns:a16="http://schemas.microsoft.com/office/drawing/2014/main" val="3383959083"/>
                    </a:ext>
                  </a:extLst>
                </a:gridCol>
                <a:gridCol w="2199249">
                  <a:extLst>
                    <a:ext uri="{9D8B030D-6E8A-4147-A177-3AD203B41FA5}">
                      <a16:colId xmlns:a16="http://schemas.microsoft.com/office/drawing/2014/main" val="516613446"/>
                    </a:ext>
                  </a:extLst>
                </a:gridCol>
              </a:tblGrid>
              <a:tr h="425046">
                <a:tc>
                  <a:txBody>
                    <a:bodyPr/>
                    <a:lstStyle/>
                    <a:p>
                      <a:pPr algn="ctr">
                        <a:buNone/>
                      </a:pPr>
                      <a:endParaRPr lang="en-AU" sz="1200">
                        <a:effectLst/>
                      </a:endParaRPr>
                    </a:p>
                  </a:txBody>
                  <a:tcPr marL="58802" marR="58802" marT="29401" marB="29401" anchor="ctr"/>
                </a:tc>
                <a:tc>
                  <a:txBody>
                    <a:bodyPr/>
                    <a:lstStyle/>
                    <a:p>
                      <a:pPr algn="l">
                        <a:buNone/>
                      </a:pPr>
                      <a:r>
                        <a:rPr lang="en-AU" sz="1200" b="1">
                          <a:effectLst/>
                        </a:rPr>
                        <a:t>PRODUCTION SPECIFICATIONS</a:t>
                      </a:r>
                      <a:endParaRPr lang="en-AU" sz="1200">
                        <a:effectLst/>
                      </a:endParaRPr>
                    </a:p>
                  </a:txBody>
                  <a:tcPr marL="58802" marR="58802" marT="29401" marB="29401" anchor="ctr"/>
                </a:tc>
                <a:tc>
                  <a:txBody>
                    <a:bodyPr/>
                    <a:lstStyle/>
                    <a:p>
                      <a:pPr algn="ctr">
                        <a:buNone/>
                      </a:pPr>
                      <a:r>
                        <a:rPr lang="en-AU" sz="1200" b="1">
                          <a:effectLst/>
                        </a:rPr>
                        <a:t>MIN</a:t>
                      </a:r>
                      <a:endParaRPr lang="en-AU" sz="1200">
                        <a:effectLst/>
                      </a:endParaRPr>
                    </a:p>
                  </a:txBody>
                  <a:tcPr marL="58802" marR="58802" marT="29401" marB="29401" anchor="ctr"/>
                </a:tc>
                <a:tc>
                  <a:txBody>
                    <a:bodyPr/>
                    <a:lstStyle/>
                    <a:p>
                      <a:pPr algn="ctr">
                        <a:buNone/>
                      </a:pPr>
                      <a:r>
                        <a:rPr lang="en-AU" sz="1200" b="1">
                          <a:effectLst/>
                        </a:rPr>
                        <a:t>MAX</a:t>
                      </a:r>
                      <a:endParaRPr lang="en-AU" sz="1200">
                        <a:effectLst/>
                      </a:endParaRPr>
                    </a:p>
                  </a:txBody>
                  <a:tcPr marL="58802" marR="58802" marT="29401" marB="29401" anchor="ctr"/>
                </a:tc>
                <a:tc>
                  <a:txBody>
                    <a:bodyPr/>
                    <a:lstStyle/>
                    <a:p>
                      <a:pPr algn="ctr">
                        <a:buNone/>
                      </a:pPr>
                      <a:r>
                        <a:rPr lang="en-AU" sz="1200" b="1">
                          <a:effectLst/>
                        </a:rPr>
                        <a:t>PASSED?</a:t>
                      </a:r>
                      <a:endParaRPr lang="en-AU" sz="1200">
                        <a:effectLst/>
                      </a:endParaRPr>
                    </a:p>
                  </a:txBody>
                  <a:tcPr marL="58802" marR="58802" marT="29401" marB="29401" anchor="ctr"/>
                </a:tc>
                <a:extLst>
                  <a:ext uri="{0D108BD9-81ED-4DB2-BD59-A6C34878D82A}">
                    <a16:rowId xmlns:a16="http://schemas.microsoft.com/office/drawing/2014/main" val="2837237238"/>
                  </a:ext>
                </a:extLst>
              </a:tr>
              <a:tr h="425046">
                <a:tc>
                  <a:txBody>
                    <a:bodyPr/>
                    <a:lstStyle/>
                    <a:p>
                      <a:pPr algn="ctr">
                        <a:buNone/>
                      </a:pPr>
                      <a:r>
                        <a:rPr lang="en-AU" sz="1200" b="1">
                          <a:effectLst/>
                        </a:rPr>
                        <a:t>A.</a:t>
                      </a:r>
                      <a:endParaRPr lang="en-AU" sz="1200">
                        <a:effectLst/>
                      </a:endParaRPr>
                    </a:p>
                  </a:txBody>
                  <a:tcPr marL="58802" marR="58802" marT="29401" marB="29401" anchor="ctr"/>
                </a:tc>
                <a:tc>
                  <a:txBody>
                    <a:bodyPr/>
                    <a:lstStyle/>
                    <a:p>
                      <a:pPr algn="l">
                        <a:buNone/>
                      </a:pPr>
                      <a:r>
                        <a:rPr lang="en-AU" sz="1200">
                          <a:effectLst/>
                        </a:rPr>
                        <a:t>Dragster body length</a:t>
                      </a:r>
                    </a:p>
                  </a:txBody>
                  <a:tcPr marL="58802" marR="58802" marT="29401" marB="29401" anchor="ctr"/>
                </a:tc>
                <a:tc>
                  <a:txBody>
                    <a:bodyPr/>
                    <a:lstStyle/>
                    <a:p>
                      <a:pPr algn="ctr">
                        <a:buNone/>
                      </a:pPr>
                      <a:r>
                        <a:rPr lang="en-AU" sz="1200" dirty="0">
                          <a:effectLst/>
                        </a:rPr>
                        <a:t>200 mm</a:t>
                      </a:r>
                    </a:p>
                  </a:txBody>
                  <a:tcPr marL="58802" marR="58802" marT="29401" marB="29401" anchor="ctr"/>
                </a:tc>
                <a:tc>
                  <a:txBody>
                    <a:bodyPr/>
                    <a:lstStyle/>
                    <a:p>
                      <a:pPr algn="ctr">
                        <a:buNone/>
                      </a:pPr>
                      <a:r>
                        <a:rPr lang="en-AU" sz="1200">
                          <a:effectLst/>
                        </a:rPr>
                        <a:t>305 mm</a:t>
                      </a:r>
                    </a:p>
                  </a:txBody>
                  <a:tcPr marL="58802" marR="58802" marT="29401" marB="29401" anchor="ctr"/>
                </a:tc>
                <a:tc>
                  <a:txBody>
                    <a:bodyPr/>
                    <a:lstStyle/>
                    <a:p>
                      <a:pPr algn="ctr">
                        <a:buNone/>
                      </a:pPr>
                      <a:r>
                        <a:rPr lang="en-AU" sz="1200">
                          <a:effectLst/>
                        </a:rPr>
                        <a:t>☐</a:t>
                      </a:r>
                    </a:p>
                  </a:txBody>
                  <a:tcPr marL="58802" marR="58802" marT="29401" marB="29401" anchor="ctr"/>
                </a:tc>
                <a:extLst>
                  <a:ext uri="{0D108BD9-81ED-4DB2-BD59-A6C34878D82A}">
                    <a16:rowId xmlns:a16="http://schemas.microsoft.com/office/drawing/2014/main" val="3907720620"/>
                  </a:ext>
                </a:extLst>
              </a:tr>
              <a:tr h="608135">
                <a:tc>
                  <a:txBody>
                    <a:bodyPr/>
                    <a:lstStyle/>
                    <a:p>
                      <a:pPr algn="ctr">
                        <a:buNone/>
                      </a:pPr>
                      <a:r>
                        <a:rPr lang="en-AU" sz="1200" b="1">
                          <a:effectLst/>
                        </a:rPr>
                        <a:t>B.</a:t>
                      </a:r>
                      <a:endParaRPr lang="en-AU" sz="1200">
                        <a:effectLst/>
                      </a:endParaRPr>
                    </a:p>
                  </a:txBody>
                  <a:tcPr marL="58802" marR="58802" marT="29401" marB="29401" anchor="ctr"/>
                </a:tc>
                <a:tc>
                  <a:txBody>
                    <a:bodyPr/>
                    <a:lstStyle/>
                    <a:p>
                      <a:pPr algn="l">
                        <a:buNone/>
                      </a:pPr>
                      <a:r>
                        <a:rPr lang="en-AU" sz="1200">
                          <a:effectLst/>
                        </a:rPr>
                        <a:t>Dragster body mass / weight with wheels</a:t>
                      </a:r>
                    </a:p>
                  </a:txBody>
                  <a:tcPr marL="58802" marR="58802" marT="29401" marB="29401" anchor="ctr"/>
                </a:tc>
                <a:tc>
                  <a:txBody>
                    <a:bodyPr/>
                    <a:lstStyle/>
                    <a:p>
                      <a:pPr algn="ctr">
                        <a:buNone/>
                      </a:pPr>
                      <a:r>
                        <a:rPr lang="en-AU" sz="1200">
                          <a:effectLst/>
                        </a:rPr>
                        <a:t>45 g</a:t>
                      </a:r>
                    </a:p>
                  </a:txBody>
                  <a:tcPr marL="58802" marR="58802" marT="29401" marB="29401" anchor="ctr"/>
                </a:tc>
                <a:tc>
                  <a:txBody>
                    <a:bodyPr/>
                    <a:lstStyle/>
                    <a:p>
                      <a:pPr algn="ctr">
                        <a:buNone/>
                      </a:pPr>
                      <a:r>
                        <a:rPr lang="en-AU" sz="1200">
                          <a:effectLst/>
                        </a:rPr>
                        <a:t>-</a:t>
                      </a:r>
                    </a:p>
                  </a:txBody>
                  <a:tcPr marL="58802" marR="58802" marT="29401" marB="29401" anchor="ctr"/>
                </a:tc>
                <a:tc>
                  <a:txBody>
                    <a:bodyPr/>
                    <a:lstStyle/>
                    <a:p>
                      <a:pPr algn="ctr">
                        <a:buNone/>
                      </a:pPr>
                      <a:r>
                        <a:rPr lang="en-AU" sz="1200">
                          <a:effectLst/>
                        </a:rPr>
                        <a:t>☐</a:t>
                      </a:r>
                    </a:p>
                  </a:txBody>
                  <a:tcPr marL="58802" marR="58802" marT="29401" marB="29401" anchor="ctr"/>
                </a:tc>
                <a:extLst>
                  <a:ext uri="{0D108BD9-81ED-4DB2-BD59-A6C34878D82A}">
                    <a16:rowId xmlns:a16="http://schemas.microsoft.com/office/drawing/2014/main" val="1441665519"/>
                  </a:ext>
                </a:extLst>
              </a:tr>
              <a:tr h="425046">
                <a:tc>
                  <a:txBody>
                    <a:bodyPr/>
                    <a:lstStyle/>
                    <a:p>
                      <a:pPr algn="ctr">
                        <a:buNone/>
                      </a:pPr>
                      <a:r>
                        <a:rPr lang="en-AU" sz="1200" b="1">
                          <a:effectLst/>
                        </a:rPr>
                        <a:t>C.</a:t>
                      </a:r>
                      <a:endParaRPr lang="en-AU" sz="1200">
                        <a:effectLst/>
                      </a:endParaRPr>
                    </a:p>
                  </a:txBody>
                  <a:tcPr marL="58802" marR="58802" marT="29401" marB="29401" anchor="ctr"/>
                </a:tc>
                <a:tc>
                  <a:txBody>
                    <a:bodyPr/>
                    <a:lstStyle/>
                    <a:p>
                      <a:pPr algn="l">
                        <a:buNone/>
                      </a:pPr>
                      <a:r>
                        <a:rPr lang="en-AU" sz="1200">
                          <a:effectLst/>
                        </a:rPr>
                        <a:t>Power plant: depth of hole</a:t>
                      </a:r>
                    </a:p>
                  </a:txBody>
                  <a:tcPr marL="58802" marR="58802" marT="29401" marB="29401" anchor="ctr"/>
                </a:tc>
                <a:tc>
                  <a:txBody>
                    <a:bodyPr/>
                    <a:lstStyle/>
                    <a:p>
                      <a:pPr algn="ctr">
                        <a:buNone/>
                      </a:pPr>
                      <a:r>
                        <a:rPr lang="en-AU" sz="1200">
                          <a:effectLst/>
                        </a:rPr>
                        <a:t>50 mm</a:t>
                      </a:r>
                    </a:p>
                  </a:txBody>
                  <a:tcPr marL="58802" marR="58802" marT="29401" marB="29401" anchor="ctr"/>
                </a:tc>
                <a:tc>
                  <a:txBody>
                    <a:bodyPr/>
                    <a:lstStyle/>
                    <a:p>
                      <a:pPr algn="ctr">
                        <a:buNone/>
                      </a:pPr>
                      <a:r>
                        <a:rPr lang="en-AU" sz="1200">
                          <a:effectLst/>
                        </a:rPr>
                        <a:t>52 mm</a:t>
                      </a:r>
                    </a:p>
                  </a:txBody>
                  <a:tcPr marL="58802" marR="58802" marT="29401" marB="29401" anchor="ctr"/>
                </a:tc>
                <a:tc>
                  <a:txBody>
                    <a:bodyPr/>
                    <a:lstStyle/>
                    <a:p>
                      <a:pPr algn="ctr">
                        <a:buNone/>
                      </a:pPr>
                      <a:r>
                        <a:rPr lang="en-AU" sz="1200">
                          <a:effectLst/>
                        </a:rPr>
                        <a:t>☐</a:t>
                      </a:r>
                    </a:p>
                  </a:txBody>
                  <a:tcPr marL="58802" marR="58802" marT="29401" marB="29401" anchor="ctr"/>
                </a:tc>
                <a:extLst>
                  <a:ext uri="{0D108BD9-81ED-4DB2-BD59-A6C34878D82A}">
                    <a16:rowId xmlns:a16="http://schemas.microsoft.com/office/drawing/2014/main" val="1275760284"/>
                  </a:ext>
                </a:extLst>
              </a:tr>
              <a:tr h="791223">
                <a:tc>
                  <a:txBody>
                    <a:bodyPr/>
                    <a:lstStyle/>
                    <a:p>
                      <a:pPr algn="ctr">
                        <a:buNone/>
                      </a:pPr>
                      <a:r>
                        <a:rPr lang="en-AU" sz="1200" b="1">
                          <a:effectLst/>
                        </a:rPr>
                        <a:t>D.</a:t>
                      </a:r>
                      <a:endParaRPr lang="en-AU" sz="1200">
                        <a:effectLst/>
                      </a:endParaRPr>
                    </a:p>
                  </a:txBody>
                  <a:tcPr marL="58802" marR="58802" marT="29401" marB="29401" anchor="ctr"/>
                </a:tc>
                <a:tc>
                  <a:txBody>
                    <a:bodyPr/>
                    <a:lstStyle/>
                    <a:p>
                      <a:pPr algn="l">
                        <a:buNone/>
                      </a:pPr>
                      <a:r>
                        <a:rPr lang="en-AU" sz="1200">
                          <a:effectLst/>
                        </a:rPr>
                        <a:t>Power plant: housing thickness (around entire housing)</a:t>
                      </a:r>
                    </a:p>
                  </a:txBody>
                  <a:tcPr marL="58802" marR="58802" marT="29401" marB="29401" anchor="ctr"/>
                </a:tc>
                <a:tc>
                  <a:txBody>
                    <a:bodyPr/>
                    <a:lstStyle/>
                    <a:p>
                      <a:pPr algn="ctr">
                        <a:buNone/>
                      </a:pPr>
                      <a:r>
                        <a:rPr lang="en-AU" sz="1200">
                          <a:effectLst/>
                        </a:rPr>
                        <a:t>3 mm</a:t>
                      </a:r>
                    </a:p>
                  </a:txBody>
                  <a:tcPr marL="58802" marR="58802" marT="29401" marB="29401" anchor="ctr"/>
                </a:tc>
                <a:tc>
                  <a:txBody>
                    <a:bodyPr/>
                    <a:lstStyle/>
                    <a:p>
                      <a:pPr algn="ctr">
                        <a:buNone/>
                      </a:pPr>
                      <a:r>
                        <a:rPr lang="en-AU" sz="1200">
                          <a:effectLst/>
                        </a:rPr>
                        <a:t>-</a:t>
                      </a:r>
                    </a:p>
                  </a:txBody>
                  <a:tcPr marL="58802" marR="58802" marT="29401" marB="29401" anchor="ctr"/>
                </a:tc>
                <a:tc>
                  <a:txBody>
                    <a:bodyPr/>
                    <a:lstStyle/>
                    <a:p>
                      <a:pPr algn="ctr">
                        <a:buNone/>
                      </a:pPr>
                      <a:r>
                        <a:rPr lang="en-AU" sz="1200">
                          <a:effectLst/>
                        </a:rPr>
                        <a:t>☐</a:t>
                      </a:r>
                    </a:p>
                  </a:txBody>
                  <a:tcPr marL="58802" marR="58802" marT="29401" marB="29401" anchor="ctr"/>
                </a:tc>
                <a:extLst>
                  <a:ext uri="{0D108BD9-81ED-4DB2-BD59-A6C34878D82A}">
                    <a16:rowId xmlns:a16="http://schemas.microsoft.com/office/drawing/2014/main" val="468565739"/>
                  </a:ext>
                </a:extLst>
              </a:tr>
              <a:tr h="791223">
                <a:tc>
                  <a:txBody>
                    <a:bodyPr/>
                    <a:lstStyle/>
                    <a:p>
                      <a:pPr algn="ctr">
                        <a:buNone/>
                      </a:pPr>
                      <a:r>
                        <a:rPr lang="en-AU" sz="1200" b="1">
                          <a:effectLst/>
                        </a:rPr>
                        <a:t>E.</a:t>
                      </a:r>
                      <a:endParaRPr lang="en-AU" sz="1200">
                        <a:effectLst/>
                      </a:endParaRPr>
                    </a:p>
                  </a:txBody>
                  <a:tcPr marL="58802" marR="58802" marT="29401" marB="29401" anchor="ctr"/>
                </a:tc>
                <a:tc>
                  <a:txBody>
                    <a:bodyPr/>
                    <a:lstStyle/>
                    <a:p>
                      <a:pPr algn="l">
                        <a:buNone/>
                      </a:pPr>
                      <a:r>
                        <a:rPr lang="en-AU" sz="1200">
                          <a:effectLst/>
                        </a:rPr>
                        <a:t>Power plant: housing (diameter) (Use 3/4" Drill)</a:t>
                      </a:r>
                    </a:p>
                  </a:txBody>
                  <a:tcPr marL="58802" marR="58802" marT="29401" marB="29401" anchor="ctr"/>
                </a:tc>
                <a:tc>
                  <a:txBody>
                    <a:bodyPr/>
                    <a:lstStyle/>
                    <a:p>
                      <a:pPr algn="ctr">
                        <a:buNone/>
                      </a:pPr>
                      <a:r>
                        <a:rPr lang="en-AU" sz="1200">
                          <a:effectLst/>
                        </a:rPr>
                        <a:t>19.5 mm</a:t>
                      </a:r>
                    </a:p>
                  </a:txBody>
                  <a:tcPr marL="58802" marR="58802" marT="29401" marB="29401" anchor="ctr"/>
                </a:tc>
                <a:tc>
                  <a:txBody>
                    <a:bodyPr/>
                    <a:lstStyle/>
                    <a:p>
                      <a:pPr algn="ctr">
                        <a:buNone/>
                      </a:pPr>
                      <a:r>
                        <a:rPr lang="en-AU" sz="1200">
                          <a:effectLst/>
                        </a:rPr>
                        <a:t>3/4"</a:t>
                      </a:r>
                    </a:p>
                  </a:txBody>
                  <a:tcPr marL="58802" marR="58802" marT="29401" marB="29401" anchor="ctr"/>
                </a:tc>
                <a:tc>
                  <a:txBody>
                    <a:bodyPr/>
                    <a:lstStyle/>
                    <a:p>
                      <a:pPr algn="ctr">
                        <a:buNone/>
                      </a:pPr>
                      <a:r>
                        <a:rPr lang="en-AU" sz="1200">
                          <a:effectLst/>
                        </a:rPr>
                        <a:t>☐</a:t>
                      </a:r>
                    </a:p>
                  </a:txBody>
                  <a:tcPr marL="58802" marR="58802" marT="29401" marB="29401" anchor="ctr"/>
                </a:tc>
                <a:extLst>
                  <a:ext uri="{0D108BD9-81ED-4DB2-BD59-A6C34878D82A}">
                    <a16:rowId xmlns:a16="http://schemas.microsoft.com/office/drawing/2014/main" val="2787941756"/>
                  </a:ext>
                </a:extLst>
              </a:tr>
              <a:tr h="791223">
                <a:tc>
                  <a:txBody>
                    <a:bodyPr/>
                    <a:lstStyle/>
                    <a:p>
                      <a:pPr algn="ctr">
                        <a:buNone/>
                      </a:pPr>
                      <a:r>
                        <a:rPr lang="en-AU" sz="1200" b="1">
                          <a:effectLst/>
                        </a:rPr>
                        <a:t>F.</a:t>
                      </a:r>
                      <a:endParaRPr lang="en-AU" sz="1200">
                        <a:effectLst/>
                      </a:endParaRPr>
                    </a:p>
                  </a:txBody>
                  <a:tcPr marL="58802" marR="58802" marT="29401" marB="29401" anchor="ctr"/>
                </a:tc>
                <a:tc>
                  <a:txBody>
                    <a:bodyPr/>
                    <a:lstStyle/>
                    <a:p>
                      <a:pPr algn="l">
                        <a:buNone/>
                      </a:pPr>
                      <a:r>
                        <a:rPr lang="en-AU" sz="1200">
                          <a:effectLst/>
                        </a:rPr>
                        <a:t>Power plant: lowest point of chamber to race surface</a:t>
                      </a:r>
                    </a:p>
                  </a:txBody>
                  <a:tcPr marL="58802" marR="58802" marT="29401" marB="29401" anchor="ctr"/>
                </a:tc>
                <a:tc>
                  <a:txBody>
                    <a:bodyPr/>
                    <a:lstStyle/>
                    <a:p>
                      <a:pPr algn="ctr">
                        <a:buNone/>
                      </a:pPr>
                      <a:r>
                        <a:rPr lang="en-AU" sz="1200">
                          <a:effectLst/>
                        </a:rPr>
                        <a:t>26 mm</a:t>
                      </a:r>
                    </a:p>
                  </a:txBody>
                  <a:tcPr marL="58802" marR="58802" marT="29401" marB="29401" anchor="ctr"/>
                </a:tc>
                <a:tc>
                  <a:txBody>
                    <a:bodyPr/>
                    <a:lstStyle/>
                    <a:p>
                      <a:pPr algn="ctr">
                        <a:buNone/>
                      </a:pPr>
                      <a:r>
                        <a:rPr lang="en-AU" sz="1200">
                          <a:effectLst/>
                        </a:rPr>
                        <a:t>36 mm</a:t>
                      </a:r>
                    </a:p>
                  </a:txBody>
                  <a:tcPr marL="58802" marR="58802" marT="29401" marB="29401" anchor="ctr"/>
                </a:tc>
                <a:tc>
                  <a:txBody>
                    <a:bodyPr/>
                    <a:lstStyle/>
                    <a:p>
                      <a:pPr algn="ctr">
                        <a:buNone/>
                      </a:pPr>
                      <a:r>
                        <a:rPr lang="en-AU" sz="1200">
                          <a:effectLst/>
                        </a:rPr>
                        <a:t>☐</a:t>
                      </a:r>
                    </a:p>
                  </a:txBody>
                  <a:tcPr marL="58802" marR="58802" marT="29401" marB="29401" anchor="ctr"/>
                </a:tc>
                <a:extLst>
                  <a:ext uri="{0D108BD9-81ED-4DB2-BD59-A6C34878D82A}">
                    <a16:rowId xmlns:a16="http://schemas.microsoft.com/office/drawing/2014/main" val="3952673600"/>
                  </a:ext>
                </a:extLst>
              </a:tr>
              <a:tr h="608135">
                <a:tc>
                  <a:txBody>
                    <a:bodyPr/>
                    <a:lstStyle/>
                    <a:p>
                      <a:pPr algn="ctr">
                        <a:buNone/>
                      </a:pPr>
                      <a:r>
                        <a:rPr lang="en-AU" sz="1200" b="1">
                          <a:effectLst/>
                        </a:rPr>
                        <a:t>G.</a:t>
                      </a:r>
                      <a:endParaRPr lang="en-AU" sz="1200">
                        <a:effectLst/>
                      </a:endParaRPr>
                    </a:p>
                  </a:txBody>
                  <a:tcPr marL="58802" marR="58802" marT="29401" marB="29401" anchor="ctr"/>
                </a:tc>
                <a:tc>
                  <a:txBody>
                    <a:bodyPr/>
                    <a:lstStyle/>
                    <a:p>
                      <a:pPr algn="l">
                        <a:buNone/>
                      </a:pPr>
                      <a:r>
                        <a:rPr lang="en-AU" sz="1200">
                          <a:effectLst/>
                        </a:rPr>
                        <a:t>Screw eye or eyelet inside diameter</a:t>
                      </a:r>
                    </a:p>
                  </a:txBody>
                  <a:tcPr marL="58802" marR="58802" marT="29401" marB="29401" anchor="ctr"/>
                </a:tc>
                <a:tc>
                  <a:txBody>
                    <a:bodyPr/>
                    <a:lstStyle/>
                    <a:p>
                      <a:pPr algn="ctr">
                        <a:buNone/>
                      </a:pPr>
                      <a:r>
                        <a:rPr lang="en-AU" sz="1200">
                          <a:effectLst/>
                        </a:rPr>
                        <a:t>4 mm</a:t>
                      </a:r>
                    </a:p>
                  </a:txBody>
                  <a:tcPr marL="58802" marR="58802" marT="29401" marB="29401" anchor="ctr"/>
                </a:tc>
                <a:tc>
                  <a:txBody>
                    <a:bodyPr/>
                    <a:lstStyle/>
                    <a:p>
                      <a:pPr algn="ctr">
                        <a:buNone/>
                      </a:pPr>
                      <a:r>
                        <a:rPr lang="en-AU" sz="1200">
                          <a:effectLst/>
                        </a:rPr>
                        <a:t>-</a:t>
                      </a:r>
                    </a:p>
                  </a:txBody>
                  <a:tcPr marL="58802" marR="58802" marT="29401" marB="29401" anchor="ctr"/>
                </a:tc>
                <a:tc>
                  <a:txBody>
                    <a:bodyPr/>
                    <a:lstStyle/>
                    <a:p>
                      <a:pPr algn="ctr">
                        <a:buNone/>
                      </a:pPr>
                      <a:r>
                        <a:rPr lang="en-AU" sz="1200" dirty="0">
                          <a:effectLst/>
                        </a:rPr>
                        <a:t>☐</a:t>
                      </a:r>
                    </a:p>
                  </a:txBody>
                  <a:tcPr marL="58802" marR="58802" marT="29401" marB="29401" anchor="ctr"/>
                </a:tc>
                <a:extLst>
                  <a:ext uri="{0D108BD9-81ED-4DB2-BD59-A6C34878D82A}">
                    <a16:rowId xmlns:a16="http://schemas.microsoft.com/office/drawing/2014/main" val="4259408668"/>
                  </a:ext>
                </a:extLst>
              </a:tr>
            </a:tbl>
          </a:graphicData>
        </a:graphic>
      </p:graphicFrame>
    </p:spTree>
    <p:extLst>
      <p:ext uri="{BB962C8B-B14F-4D97-AF65-F5344CB8AC3E}">
        <p14:creationId xmlns:p14="http://schemas.microsoft.com/office/powerpoint/2010/main" val="1120022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4D9A4-5598-4EF4-5469-B2C27AA0975F}"/>
              </a:ext>
            </a:extLst>
          </p:cNvPr>
          <p:cNvSpPr>
            <a:spLocks noGrp="1"/>
          </p:cNvSpPr>
          <p:nvPr>
            <p:ph type="title"/>
          </p:nvPr>
        </p:nvSpPr>
        <p:spPr/>
        <p:txBody>
          <a:bodyPr/>
          <a:lstStyle/>
          <a:p>
            <a:r>
              <a:rPr lang="en-AU" b="1" dirty="0"/>
              <a:t>HOW YOU ARE GRADED (Criterion B4)</a:t>
            </a:r>
            <a:br>
              <a:rPr lang="en-AU" b="1" dirty="0"/>
            </a:br>
            <a:endParaRPr lang="en-US" dirty="0"/>
          </a:p>
        </p:txBody>
      </p:sp>
      <p:graphicFrame>
        <p:nvGraphicFramePr>
          <p:cNvPr id="4" name="Table 3">
            <a:extLst>
              <a:ext uri="{FF2B5EF4-FFF2-40B4-BE49-F238E27FC236}">
                <a16:creationId xmlns:a16="http://schemas.microsoft.com/office/drawing/2014/main" id="{5F6B2BFA-0341-3911-46CA-052B949DECAA}"/>
              </a:ext>
            </a:extLst>
          </p:cNvPr>
          <p:cNvGraphicFramePr>
            <a:graphicFrameLocks noGrp="1"/>
          </p:cNvGraphicFramePr>
          <p:nvPr>
            <p:extLst>
              <p:ext uri="{D42A27DB-BD31-4B8C-83A1-F6EECF244321}">
                <p14:modId xmlns:p14="http://schemas.microsoft.com/office/powerpoint/2010/main" val="731896369"/>
              </p:ext>
            </p:extLst>
          </p:nvPr>
        </p:nvGraphicFramePr>
        <p:xfrm>
          <a:off x="339968" y="1441938"/>
          <a:ext cx="11195538" cy="4853352"/>
        </p:xfrm>
        <a:graphic>
          <a:graphicData uri="http://schemas.openxmlformats.org/drawingml/2006/table">
            <a:tbl>
              <a:tblPr>
                <a:tableStyleId>{69C7853C-536D-4A76-A0AE-DD22124D55A5}</a:tableStyleId>
              </a:tblPr>
              <a:tblGrid>
                <a:gridCol w="1101970">
                  <a:extLst>
                    <a:ext uri="{9D8B030D-6E8A-4147-A177-3AD203B41FA5}">
                      <a16:colId xmlns:a16="http://schemas.microsoft.com/office/drawing/2014/main" val="660749362"/>
                    </a:ext>
                  </a:extLst>
                </a:gridCol>
                <a:gridCol w="2368062">
                  <a:extLst>
                    <a:ext uri="{9D8B030D-6E8A-4147-A177-3AD203B41FA5}">
                      <a16:colId xmlns:a16="http://schemas.microsoft.com/office/drawing/2014/main" val="3051996733"/>
                    </a:ext>
                  </a:extLst>
                </a:gridCol>
                <a:gridCol w="7725506">
                  <a:extLst>
                    <a:ext uri="{9D8B030D-6E8A-4147-A177-3AD203B41FA5}">
                      <a16:colId xmlns:a16="http://schemas.microsoft.com/office/drawing/2014/main" val="1555969584"/>
                    </a:ext>
                  </a:extLst>
                </a:gridCol>
              </a:tblGrid>
              <a:tr h="409319">
                <a:tc>
                  <a:txBody>
                    <a:bodyPr/>
                    <a:lstStyle/>
                    <a:p>
                      <a:pPr algn="l">
                        <a:buNone/>
                      </a:pPr>
                      <a:r>
                        <a:rPr lang="en-AU" sz="1000" b="1">
                          <a:effectLst/>
                        </a:rPr>
                        <a:t>Level</a:t>
                      </a:r>
                      <a:endParaRPr lang="en-AU" sz="1000">
                        <a:effectLst/>
                      </a:endParaRPr>
                    </a:p>
                  </a:txBody>
                  <a:tcPr marL="52426" marR="52426" marT="26213" marB="26213" anchor="ctr"/>
                </a:tc>
                <a:tc>
                  <a:txBody>
                    <a:bodyPr/>
                    <a:lstStyle/>
                    <a:p>
                      <a:pPr algn="l">
                        <a:buNone/>
                      </a:pPr>
                      <a:r>
                        <a:rPr lang="en-AU" sz="1000" b="1">
                          <a:effectLst/>
                        </a:rPr>
                        <a:t>Title</a:t>
                      </a:r>
                      <a:endParaRPr lang="en-AU" sz="1000">
                        <a:effectLst/>
                      </a:endParaRPr>
                    </a:p>
                  </a:txBody>
                  <a:tcPr marL="52426" marR="52426" marT="26213" marB="26213" anchor="ctr"/>
                </a:tc>
                <a:tc>
                  <a:txBody>
                    <a:bodyPr/>
                    <a:lstStyle/>
                    <a:p>
                      <a:pPr algn="l">
                        <a:buNone/>
                      </a:pPr>
                      <a:r>
                        <a:rPr lang="en-AU" sz="1000" b="1">
                          <a:effectLst/>
                        </a:rPr>
                        <a:t>What does your drawing look like?</a:t>
                      </a:r>
                      <a:endParaRPr lang="en-AU" sz="1000">
                        <a:effectLst/>
                      </a:endParaRPr>
                    </a:p>
                  </a:txBody>
                  <a:tcPr marL="52426" marR="52426" marT="26213" marB="26213" anchor="ctr"/>
                </a:tc>
                <a:extLst>
                  <a:ext uri="{0D108BD9-81ED-4DB2-BD59-A6C34878D82A}">
                    <a16:rowId xmlns:a16="http://schemas.microsoft.com/office/drawing/2014/main" val="2729934342"/>
                  </a:ext>
                </a:extLst>
              </a:tr>
              <a:tr h="760164">
                <a:tc>
                  <a:txBody>
                    <a:bodyPr/>
                    <a:lstStyle/>
                    <a:p>
                      <a:pPr algn="l">
                        <a:buNone/>
                      </a:pPr>
                      <a:r>
                        <a:rPr lang="en-AU" sz="1000" b="1" dirty="0">
                          <a:effectLst/>
                        </a:rPr>
                        <a:t>1 - 2</a:t>
                      </a:r>
                      <a:endParaRPr lang="en-AU" sz="1000" dirty="0">
                        <a:effectLst/>
                      </a:endParaRPr>
                    </a:p>
                  </a:txBody>
                  <a:tcPr marL="52426" marR="52426" marT="26213" marB="26213" anchor="ctr"/>
                </a:tc>
                <a:tc>
                  <a:txBody>
                    <a:bodyPr/>
                    <a:lstStyle/>
                    <a:p>
                      <a:pPr algn="l">
                        <a:buNone/>
                      </a:pPr>
                      <a:r>
                        <a:rPr lang="en-AU" sz="1000" b="1">
                          <a:effectLst/>
                        </a:rPr>
                        <a:t>The Sketch</a:t>
                      </a:r>
                      <a:endParaRPr lang="en-AU" sz="1000">
                        <a:effectLst/>
                      </a:endParaRPr>
                    </a:p>
                  </a:txBody>
                  <a:tcPr marL="52426" marR="52426" marT="26213" marB="26213" anchor="ctr"/>
                </a:tc>
                <a:tc>
                  <a:txBody>
                    <a:bodyPr/>
                    <a:lstStyle/>
                    <a:p>
                      <a:pPr algn="l">
                        <a:buNone/>
                      </a:pPr>
                      <a:r>
                        <a:rPr lang="en-AU" sz="1000" dirty="0">
                          <a:effectLst/>
                        </a:rPr>
                        <a:t>• You drew by hand (no ruler).</a:t>
                      </a:r>
                    </a:p>
                    <a:p>
                      <a:pPr algn="l">
                        <a:buNone/>
                      </a:pPr>
                      <a:r>
                        <a:rPr lang="en-AU" sz="1000" dirty="0">
                          <a:effectLst/>
                        </a:rPr>
                        <a:t>• The drawing is messy.</a:t>
                      </a:r>
                    </a:p>
                    <a:p>
                      <a:pPr algn="l">
                        <a:buNone/>
                      </a:pPr>
                      <a:r>
                        <a:rPr lang="en-AU" sz="1000" dirty="0">
                          <a:effectLst/>
                        </a:rPr>
                        <a:t>• I cannot build a car from this.</a:t>
                      </a:r>
                    </a:p>
                  </a:txBody>
                  <a:tcPr marL="52426" marR="52426" marT="26213" marB="26213" anchor="ctr"/>
                </a:tc>
                <a:extLst>
                  <a:ext uri="{0D108BD9-81ED-4DB2-BD59-A6C34878D82A}">
                    <a16:rowId xmlns:a16="http://schemas.microsoft.com/office/drawing/2014/main" val="1970035587"/>
                  </a:ext>
                </a:extLst>
              </a:tr>
              <a:tr h="1111008">
                <a:tc>
                  <a:txBody>
                    <a:bodyPr/>
                    <a:lstStyle/>
                    <a:p>
                      <a:pPr algn="l">
                        <a:buNone/>
                      </a:pPr>
                      <a:r>
                        <a:rPr lang="en-AU" sz="1000" b="1">
                          <a:effectLst/>
                        </a:rPr>
                        <a:t>3 - 4</a:t>
                      </a:r>
                      <a:endParaRPr lang="en-AU" sz="1000">
                        <a:effectLst/>
                      </a:endParaRPr>
                    </a:p>
                  </a:txBody>
                  <a:tcPr marL="52426" marR="52426" marT="26213" marB="26213" anchor="ctr"/>
                </a:tc>
                <a:tc>
                  <a:txBody>
                    <a:bodyPr/>
                    <a:lstStyle/>
                    <a:p>
                      <a:pPr algn="l">
                        <a:buNone/>
                      </a:pPr>
                      <a:r>
                        <a:rPr lang="en-AU" sz="1000" b="1">
                          <a:effectLst/>
                        </a:rPr>
                        <a:t>The Diagram</a:t>
                      </a:r>
                      <a:endParaRPr lang="en-AU" sz="1000">
                        <a:effectLst/>
                      </a:endParaRPr>
                    </a:p>
                  </a:txBody>
                  <a:tcPr marL="52426" marR="52426" marT="26213" marB="26213" anchor="ctr"/>
                </a:tc>
                <a:tc>
                  <a:txBody>
                    <a:bodyPr/>
                    <a:lstStyle/>
                    <a:p>
                      <a:pPr algn="l">
                        <a:buNone/>
                      </a:pPr>
                      <a:r>
                        <a:rPr lang="en-AU" sz="1000" dirty="0">
                          <a:effectLst/>
                        </a:rPr>
                        <a:t>• You used a ruler, but lines are messy.</a:t>
                      </a:r>
                    </a:p>
                    <a:p>
                      <a:pPr algn="l">
                        <a:buNone/>
                      </a:pPr>
                      <a:r>
                        <a:rPr lang="en-AU" sz="1000" dirty="0">
                          <a:effectLst/>
                        </a:rPr>
                        <a:t>• Top and Side views do not line up.</a:t>
                      </a:r>
                    </a:p>
                    <a:p>
                      <a:pPr algn="l">
                        <a:buNone/>
                      </a:pPr>
                      <a:r>
                        <a:rPr lang="en-AU" sz="1000" dirty="0">
                          <a:effectLst/>
                        </a:rPr>
                        <a:t>• You forgot the Hidden Lines (CO2 hole).</a:t>
                      </a:r>
                    </a:p>
                    <a:p>
                      <a:pPr algn="l">
                        <a:buNone/>
                      </a:pPr>
                      <a:r>
                        <a:rPr lang="en-AU" sz="1000" dirty="0">
                          <a:effectLst/>
                        </a:rPr>
                        <a:t>• </a:t>
                      </a:r>
                      <a:r>
                        <a:rPr lang="en-AU" sz="1000" b="1" dirty="0">
                          <a:effectLst/>
                        </a:rPr>
                        <a:t>I have to guess the size.</a:t>
                      </a:r>
                      <a:endParaRPr lang="en-AU" sz="1000" dirty="0">
                        <a:effectLst/>
                      </a:endParaRPr>
                    </a:p>
                  </a:txBody>
                  <a:tcPr marL="52426" marR="52426" marT="26213" marB="26213" anchor="ctr"/>
                </a:tc>
                <a:extLst>
                  <a:ext uri="{0D108BD9-81ED-4DB2-BD59-A6C34878D82A}">
                    <a16:rowId xmlns:a16="http://schemas.microsoft.com/office/drawing/2014/main" val="1805809274"/>
                  </a:ext>
                </a:extLst>
              </a:tr>
              <a:tr h="1111008">
                <a:tc>
                  <a:txBody>
                    <a:bodyPr/>
                    <a:lstStyle/>
                    <a:p>
                      <a:pPr algn="l">
                        <a:buNone/>
                      </a:pPr>
                      <a:r>
                        <a:rPr lang="en-AU" sz="1000" b="1">
                          <a:effectLst/>
                        </a:rPr>
                        <a:t>5 - 6</a:t>
                      </a:r>
                      <a:endParaRPr lang="en-AU" sz="1000">
                        <a:effectLst/>
                      </a:endParaRPr>
                    </a:p>
                  </a:txBody>
                  <a:tcPr marL="52426" marR="52426" marT="26213" marB="26213" anchor="ctr"/>
                </a:tc>
                <a:tc>
                  <a:txBody>
                    <a:bodyPr/>
                    <a:lstStyle/>
                    <a:p>
                      <a:pPr algn="l">
                        <a:buNone/>
                      </a:pPr>
                      <a:r>
                        <a:rPr lang="en-AU" sz="1000" b="1">
                          <a:effectLst/>
                        </a:rPr>
                        <a:t>The Working Drawing</a:t>
                      </a:r>
                      <a:endParaRPr lang="en-AU" sz="1000">
                        <a:effectLst/>
                      </a:endParaRPr>
                    </a:p>
                  </a:txBody>
                  <a:tcPr marL="52426" marR="52426" marT="26213" marB="26213" anchor="ctr"/>
                </a:tc>
                <a:tc>
                  <a:txBody>
                    <a:bodyPr/>
                    <a:lstStyle/>
                    <a:p>
                      <a:pPr algn="l">
                        <a:buNone/>
                      </a:pPr>
                      <a:r>
                        <a:rPr lang="en-AU" sz="1000" dirty="0">
                          <a:effectLst/>
                        </a:rPr>
                        <a:t>• </a:t>
                      </a:r>
                      <a:r>
                        <a:rPr lang="en-AU" sz="1000" b="1" dirty="0">
                          <a:effectLst/>
                        </a:rPr>
                        <a:t>Scale is correct (1:1).</a:t>
                      </a:r>
                    </a:p>
                    <a:p>
                      <a:pPr algn="l">
                        <a:buNone/>
                      </a:pPr>
                      <a:r>
                        <a:rPr lang="en-AU" sz="1000" dirty="0">
                          <a:effectLst/>
                        </a:rPr>
                        <a:t>• Top and Side views align correctly.</a:t>
                      </a:r>
                    </a:p>
                    <a:p>
                      <a:pPr algn="l">
                        <a:buNone/>
                      </a:pPr>
                      <a:r>
                        <a:rPr lang="en-AU" sz="1000" dirty="0">
                          <a:effectLst/>
                        </a:rPr>
                        <a:t>• Dashed lines show the CO2 hole clearly.</a:t>
                      </a:r>
                    </a:p>
                    <a:p>
                      <a:pPr algn="l">
                        <a:buNone/>
                      </a:pPr>
                      <a:r>
                        <a:rPr lang="en-AU" sz="1000" dirty="0">
                          <a:effectLst/>
                        </a:rPr>
                        <a:t>• I can see the dimensions.</a:t>
                      </a:r>
                    </a:p>
                    <a:p>
                      <a:pPr algn="l">
                        <a:buNone/>
                      </a:pPr>
                      <a:r>
                        <a:rPr lang="en-AU" sz="1000" dirty="0">
                          <a:effectLst/>
                        </a:rPr>
                        <a:t>• </a:t>
                      </a:r>
                      <a:r>
                        <a:rPr lang="en-AU" sz="1000" b="1" dirty="0">
                          <a:effectLst/>
                        </a:rPr>
                        <a:t>I can build this car.</a:t>
                      </a:r>
                      <a:endParaRPr lang="en-AU" sz="1000" dirty="0">
                        <a:effectLst/>
                      </a:endParaRPr>
                    </a:p>
                  </a:txBody>
                  <a:tcPr marL="52426" marR="52426" marT="26213" marB="26213" anchor="ctr"/>
                </a:tc>
                <a:extLst>
                  <a:ext uri="{0D108BD9-81ED-4DB2-BD59-A6C34878D82A}">
                    <a16:rowId xmlns:a16="http://schemas.microsoft.com/office/drawing/2014/main" val="399442526"/>
                  </a:ext>
                </a:extLst>
              </a:tr>
              <a:tr h="1461853">
                <a:tc>
                  <a:txBody>
                    <a:bodyPr/>
                    <a:lstStyle/>
                    <a:p>
                      <a:pPr algn="l">
                        <a:buNone/>
                      </a:pPr>
                      <a:r>
                        <a:rPr lang="en-AU" sz="1000" b="1">
                          <a:effectLst/>
                        </a:rPr>
                        <a:t>7 - 8</a:t>
                      </a:r>
                      <a:endParaRPr lang="en-AU" sz="1000">
                        <a:effectLst/>
                      </a:endParaRPr>
                    </a:p>
                  </a:txBody>
                  <a:tcPr marL="52426" marR="52426" marT="26213" marB="26213" anchor="ctr"/>
                </a:tc>
                <a:tc>
                  <a:txBody>
                    <a:bodyPr/>
                    <a:lstStyle/>
                    <a:p>
                      <a:pPr algn="l">
                        <a:buNone/>
                      </a:pPr>
                      <a:r>
                        <a:rPr lang="en-AU" sz="1000" b="1">
                          <a:effectLst/>
                        </a:rPr>
                        <a:t>The Blueprint</a:t>
                      </a:r>
                      <a:endParaRPr lang="en-AU" sz="1000">
                        <a:effectLst/>
                      </a:endParaRPr>
                    </a:p>
                  </a:txBody>
                  <a:tcPr marL="52426" marR="52426" marT="26213" marB="26213" anchor="ctr"/>
                </a:tc>
                <a:tc>
                  <a:txBody>
                    <a:bodyPr/>
                    <a:lstStyle/>
                    <a:p>
                      <a:pPr algn="l">
                        <a:buNone/>
                      </a:pPr>
                      <a:r>
                        <a:rPr lang="en-AU" sz="1000" dirty="0">
                          <a:effectLst/>
                        </a:rPr>
                        <a:t>• </a:t>
                      </a:r>
                      <a:r>
                        <a:rPr lang="en-AU" sz="1000" b="1" dirty="0">
                          <a:effectLst/>
                        </a:rPr>
                        <a:t>Perfect alignment</a:t>
                      </a:r>
                      <a:r>
                        <a:rPr lang="en-AU" sz="1000" dirty="0">
                          <a:effectLst/>
                        </a:rPr>
                        <a:t> (Projection lines are visible but light).</a:t>
                      </a:r>
                    </a:p>
                    <a:p>
                      <a:pPr algn="l">
                        <a:buNone/>
                      </a:pPr>
                      <a:r>
                        <a:rPr lang="en-AU" sz="1000" dirty="0">
                          <a:effectLst/>
                        </a:rPr>
                        <a:t>• </a:t>
                      </a:r>
                      <a:r>
                        <a:rPr lang="en-AU" sz="1000" b="1" dirty="0">
                          <a:effectLst/>
                        </a:rPr>
                        <a:t>High Quality:</a:t>
                      </a:r>
                      <a:r>
                        <a:rPr lang="en-AU" sz="1000" dirty="0">
                          <a:effectLst/>
                        </a:rPr>
                        <a:t> Thick lines for the car, thin lines for dimensions.</a:t>
                      </a:r>
                    </a:p>
                    <a:p>
                      <a:pPr algn="l">
                        <a:buNone/>
                      </a:pPr>
                      <a:r>
                        <a:rPr lang="en-AU" sz="1000" dirty="0">
                          <a:effectLst/>
                        </a:rPr>
                        <a:t>• </a:t>
                      </a:r>
                      <a:r>
                        <a:rPr lang="en-AU" sz="1000" b="1" dirty="0">
                          <a:effectLst/>
                        </a:rPr>
                        <a:t>Zero Errors:</a:t>
                      </a:r>
                      <a:r>
                        <a:rPr lang="en-AU" sz="1000" dirty="0">
                          <a:effectLst/>
                        </a:rPr>
                        <a:t> It is ready for the computer (CAD) immediately.</a:t>
                      </a:r>
                    </a:p>
                    <a:p>
                      <a:pPr algn="l">
                        <a:buNone/>
                      </a:pPr>
                      <a:r>
                        <a:rPr lang="en-AU" sz="1000" dirty="0">
                          <a:effectLst/>
                        </a:rPr>
                        <a:t>• </a:t>
                      </a:r>
                      <a:r>
                        <a:rPr lang="en-AU" sz="1000" b="1" dirty="0">
                          <a:effectLst/>
                        </a:rPr>
                        <a:t>A machine could read this.</a:t>
                      </a:r>
                      <a:endParaRPr lang="en-AU" sz="1000" dirty="0">
                        <a:effectLst/>
                      </a:endParaRPr>
                    </a:p>
                  </a:txBody>
                  <a:tcPr marL="52426" marR="52426" marT="26213" marB="26213" anchor="ctr"/>
                </a:tc>
                <a:extLst>
                  <a:ext uri="{0D108BD9-81ED-4DB2-BD59-A6C34878D82A}">
                    <a16:rowId xmlns:a16="http://schemas.microsoft.com/office/drawing/2014/main" val="1644933459"/>
                  </a:ext>
                </a:extLst>
              </a:tr>
            </a:tbl>
          </a:graphicData>
        </a:graphic>
      </p:graphicFrame>
    </p:spTree>
    <p:extLst>
      <p:ext uri="{BB962C8B-B14F-4D97-AF65-F5344CB8AC3E}">
        <p14:creationId xmlns:p14="http://schemas.microsoft.com/office/powerpoint/2010/main" val="7090917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TotalTime>
  <Words>632</Words>
  <Application>Microsoft Macintosh PowerPoint</Application>
  <PresentationFormat>Widescreen</PresentationFormat>
  <Paragraphs>88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PowerPoint Presentation</vt:lpstr>
      <vt:lpstr>PowerPoint Presentation</vt:lpstr>
      <vt:lpstr>Design Constraints #1</vt:lpstr>
      <vt:lpstr>Design Constraints #2</vt:lpstr>
      <vt:lpstr>Photo of working drawing</vt:lpstr>
      <vt:lpstr>Safety Checks (Must Pass Before Racing)</vt:lpstr>
      <vt:lpstr>HOW YOU ARE GRADED (Criterion B4)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Burton</dc:creator>
  <cp:lastModifiedBy>Matt Burton</cp:lastModifiedBy>
  <cp:revision>9</cp:revision>
  <dcterms:created xsi:type="dcterms:W3CDTF">2025-02-13T23:53:21Z</dcterms:created>
  <dcterms:modified xsi:type="dcterms:W3CDTF">2026-02-01T12:02:23Z</dcterms:modified>
</cp:coreProperties>
</file>