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68" r:id="rId3"/>
    <p:sldId id="295" r:id="rId4"/>
    <p:sldId id="291" r:id="rId5"/>
    <p:sldId id="293" r:id="rId6"/>
    <p:sldId id="302" r:id="rId7"/>
    <p:sldId id="297" r:id="rId8"/>
    <p:sldId id="306" r:id="rId9"/>
    <p:sldId id="307" r:id="rId10"/>
    <p:sldId id="299" r:id="rId11"/>
    <p:sldId id="305" r:id="rId12"/>
    <p:sldId id="304" r:id="rId13"/>
    <p:sldId id="300" r:id="rId14"/>
    <p:sldId id="308" r:id="rId15"/>
    <p:sldId id="301" r:id="rId16"/>
    <p:sldId id="30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485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4B59-DB0F-CC7F-EE5F-A4F7C1846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1544B-D667-634F-3BB4-F832EEF2F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7541A-0C8B-12F4-F3AA-26719722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716C8-9C3D-66B1-515D-B05203E4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0F18-3FEB-BD70-1331-F5D79FB1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9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70DD-5D00-7BFE-E51E-F42CBF48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66F3-E07A-A070-3F07-5D9F6AE9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11BB8-9D67-BE06-3CCF-207D7D856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F3D64-7751-F3DE-73E8-E228D8C1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739D9-58AD-2CD6-13B9-5BD34D15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6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F32C-BFEF-4E18-3E79-64DF5EF3B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C4F4A-4DCA-D3AB-1FD0-0CE95F081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6CB5-C22A-4A21-5B94-BF631966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480E1-505C-6EFE-8E42-71D66168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0E52-152C-38EE-83C8-120DD0BD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9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5A44-FE51-309D-2D54-842D2573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EFBA-436B-6FF7-F4EC-3BBA15D5D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86EFA-E96A-BF2F-315F-3EE66E92D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D2922-85ED-2D49-0B2F-F9FA64F1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26B79-4819-148A-EEFE-862C6CA2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9C6BF-E941-D202-0D92-6564E2A7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46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4ED7-25B6-8B7C-F449-CF14DBF9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B702D-FBBF-824B-AAB6-593B829B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56F74-679B-76AB-2593-E2BE649B2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5CE42-1FC0-9F5C-6E75-46CCB4337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E708C-E81A-1B94-A9B0-327C32DAD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E3B21-2686-1B5F-B66B-67EF0CEB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104A2-8690-8464-A69E-AAA8975E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899E1-B6DA-8061-F0E0-84356305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6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8624-4566-A133-854D-92DFC0D0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15D61-1B21-509E-6DD5-230767F6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AA041-B77D-B483-DD83-3BCA7BD87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00008-A67D-54D9-DE53-096D1303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87653-093C-47BE-899A-91AF2948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771D3-4846-CEA9-7719-AA2B1E25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10654-E680-B123-2DB6-76CF2017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51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F7A8-1751-F02E-691E-152D49D3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345B1-88AD-1157-E21F-6D1D627C7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845E2-541C-F13B-C6DD-63C7825C0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96C86-55BB-FCD1-4C7F-2AD9A859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09452-5770-C047-94EC-06EB3B91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309D4-CB00-AB4F-289B-3D9B4CBD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6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154D-7642-5CC3-6F04-1076C632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0C1DB1-866A-1D21-5C77-39EBD39D4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397B7-9F28-DA4F-D065-F8373D9DE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E742C-D06C-AD57-306C-37815124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599ED-5E12-3445-962D-06EF0F25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10EAC-03C6-C5D6-181A-85F0EBA7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7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A3CC-F14A-734B-861D-29D14A48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9B425-5799-B584-2833-374DB69AA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F841-4AD5-6440-7BF7-CDE2C295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5D6FA-7AC8-6966-4711-2AC237A0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AE453-1914-593E-2D27-A1C25400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4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82D5C-1431-273B-DFC6-8F638EEA4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CC11A-F79F-1188-15D7-C4B461701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D5E3C-B2BE-26DF-C3BE-851D14CD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4B02B-9FDE-7639-526E-AD83DAC0F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3BA28-4198-6ACB-2454-551BF2AE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3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1D731-05A7-8EA4-8ADB-B4501BE6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0A790-F423-20BB-96AB-049621B0E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B5947-30F4-366A-7A2B-2CB962D22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2EF4D-F33C-C741-B778-C05936AA794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0EEA-B537-1B2C-02FE-2013B8292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E07D-775E-08E8-642B-7FC2C79B5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46E65-46BD-7F46-9BE8-B84E0F2E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3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GO_zDWmkv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GO_zDWmkv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GO_zDWmkvk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89TD4czV3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89TD4czV3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8D941-0986-16A4-0021-3C34D884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312025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103784-BFB4-5994-B7EA-83D5FD115408}"/>
              </a:ext>
            </a:extLst>
          </p:cNvPr>
          <p:cNvSpPr txBox="1">
            <a:spLocks/>
          </p:cNvSpPr>
          <p:nvPr/>
        </p:nvSpPr>
        <p:spPr>
          <a:xfrm>
            <a:off x="336068" y="94759"/>
            <a:ext cx="10648057" cy="10492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Unit 1: C02 Racers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5C176-1FAE-3BCA-7AA3-DFF8FA865126}"/>
              </a:ext>
            </a:extLst>
          </p:cNvPr>
          <p:cNvSpPr txBox="1"/>
          <p:nvPr/>
        </p:nvSpPr>
        <p:spPr>
          <a:xfrm>
            <a:off x="336068" y="1794933"/>
            <a:ext cx="97110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effectLst/>
                <a:latin typeface="Helvetica" pitchFamily="2" charset="0"/>
              </a:rPr>
              <a:t>Problem:</a:t>
            </a:r>
          </a:p>
          <a:p>
            <a:r>
              <a:rPr lang="en-AU" sz="2800" dirty="0">
                <a:effectLst/>
                <a:latin typeface="Helvetica" pitchFamily="2" charset="0"/>
              </a:rPr>
              <a:t>You are an automotive design engineer in the research and development department of the NIS</a:t>
            </a:r>
            <a:r>
              <a:rPr lang="en-AU" sz="2800" dirty="0">
                <a:latin typeface="Helvetica" pitchFamily="2" charset="0"/>
              </a:rPr>
              <a:t> </a:t>
            </a:r>
            <a:r>
              <a:rPr lang="en-AU" sz="2800" dirty="0">
                <a:effectLst/>
                <a:latin typeface="Helvetica" pitchFamily="2" charset="0"/>
              </a:rPr>
              <a:t>Automotive Company. You have been assigned the task of designing the new, fuel efficient, aerodynamically sound, stylish, and futuristic automobile for the company. You will be in charge</a:t>
            </a:r>
            <a:r>
              <a:rPr lang="en-AU" sz="2800" dirty="0">
                <a:latin typeface="Helvetica" pitchFamily="2" charset="0"/>
              </a:rPr>
              <a:t> </a:t>
            </a:r>
            <a:r>
              <a:rPr lang="en-AU" sz="2800" dirty="0">
                <a:effectLst/>
                <a:latin typeface="Helvetica" pitchFamily="2" charset="0"/>
              </a:rPr>
              <a:t>of the designing, constructing, and testing of the new vehicle. All cars in the company will be compared for excellence in design, craftsmanship, aerodynamics, and the fastest racing time.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3363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8D941-0986-16A4-0021-3C34D884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312025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103784-BFB4-5994-B7EA-83D5FD115408}"/>
              </a:ext>
            </a:extLst>
          </p:cNvPr>
          <p:cNvSpPr txBox="1">
            <a:spLocks/>
          </p:cNvSpPr>
          <p:nvPr/>
        </p:nvSpPr>
        <p:spPr>
          <a:xfrm>
            <a:off x="336068" y="94759"/>
            <a:ext cx="10648057" cy="10492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Unit 1: C02 Racers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8616C4A-E8E1-7A15-2BE5-52E55134D0ED}"/>
              </a:ext>
            </a:extLst>
          </p:cNvPr>
          <p:cNvSpPr txBox="1">
            <a:spLocks/>
          </p:cNvSpPr>
          <p:nvPr/>
        </p:nvSpPr>
        <p:spPr>
          <a:xfrm>
            <a:off x="358610" y="1491567"/>
            <a:ext cx="9681882" cy="739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Design Brief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D54E8-4963-7998-BAAE-5101CB10156D}"/>
              </a:ext>
            </a:extLst>
          </p:cNvPr>
          <p:cNvSpPr txBox="1"/>
          <p:nvPr/>
        </p:nvSpPr>
        <p:spPr>
          <a:xfrm>
            <a:off x="358610" y="2449690"/>
            <a:ext cx="953249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Design and build a C02 Racer within the design specifications and material constraints to race against the other teams</a:t>
            </a:r>
          </a:p>
          <a:p>
            <a:endParaRPr lang="en-US" sz="2800" dirty="0"/>
          </a:p>
          <a:p>
            <a:pPr marL="0" marR="0"/>
            <a:r>
              <a:rPr lang="en-GB" sz="2000" dirty="0">
                <a:effectLst/>
              </a:rPr>
              <a:t>The dragster needs to travel down the track while being propelled by a CO2 cartridge. It must be</a:t>
            </a:r>
            <a:r>
              <a:rPr lang="en-GB" sz="2000" dirty="0"/>
              <a:t> </a:t>
            </a:r>
            <a:r>
              <a:rPr lang="en-GB" sz="2000" dirty="0">
                <a:effectLst/>
              </a:rPr>
              <a:t>held and launched by the teacher using an eye hook to position the dragster and the launching</a:t>
            </a:r>
            <a:r>
              <a:rPr lang="en-GB" sz="2000" dirty="0"/>
              <a:t> </a:t>
            </a:r>
            <a:r>
              <a:rPr lang="en-GB" sz="2000" dirty="0">
                <a:effectLst/>
              </a:rPr>
              <a:t>apparatus to puncture the CO2 cartridge. </a:t>
            </a:r>
          </a:p>
          <a:p>
            <a:pPr marL="0" marR="0"/>
            <a:endParaRPr lang="en-GB" sz="2000" dirty="0"/>
          </a:p>
          <a:p>
            <a:pPr marL="0" marR="0"/>
            <a:r>
              <a:rPr lang="en-GB" sz="2000" dirty="0">
                <a:effectLst/>
              </a:rPr>
              <a:t>The dragster can be any shape as long as it it carved</a:t>
            </a:r>
            <a:r>
              <a:rPr lang="en-GB" sz="2000" dirty="0"/>
              <a:t> </a:t>
            </a:r>
            <a:r>
              <a:rPr lang="en-GB" sz="2000" dirty="0">
                <a:effectLst/>
              </a:rPr>
              <a:t>from the given blanks and meets the size requirements. The design should reflect the research</a:t>
            </a:r>
            <a:r>
              <a:rPr lang="en-GB" sz="2000" dirty="0"/>
              <a:t> </a:t>
            </a:r>
            <a:r>
              <a:rPr lang="en-GB" sz="2000" dirty="0">
                <a:effectLst/>
              </a:rPr>
              <a:t>that has been done in regards to aerodynamics and mechanical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193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59CA-14FF-7E26-432C-A878FC882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32B6AD-01E5-C61A-FF05-9A9F169C2D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312025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9F4199-6A76-2B18-7527-CE310B70236A}"/>
              </a:ext>
            </a:extLst>
          </p:cNvPr>
          <p:cNvSpPr txBox="1">
            <a:spLocks/>
          </p:cNvSpPr>
          <p:nvPr/>
        </p:nvSpPr>
        <p:spPr>
          <a:xfrm>
            <a:off x="336068" y="94759"/>
            <a:ext cx="10648057" cy="10492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Design Specs</a:t>
            </a:r>
          </a:p>
        </p:txBody>
      </p:sp>
      <p:pic>
        <p:nvPicPr>
          <p:cNvPr id="7" name="Picture 6" descr="A diagram of a vehicle&#10;&#10;Description automatically generated">
            <a:extLst>
              <a:ext uri="{FF2B5EF4-FFF2-40B4-BE49-F238E27FC236}">
                <a16:creationId xmlns:a16="http://schemas.microsoft.com/office/drawing/2014/main" id="{FC533D1B-EEC4-E1C2-A969-FBA04641C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5" y="1387122"/>
            <a:ext cx="8230307" cy="53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2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8D941-0986-16A4-0021-3C34D884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312025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103784-BFB4-5994-B7EA-83D5FD115408}"/>
              </a:ext>
            </a:extLst>
          </p:cNvPr>
          <p:cNvSpPr txBox="1">
            <a:spLocks/>
          </p:cNvSpPr>
          <p:nvPr/>
        </p:nvSpPr>
        <p:spPr>
          <a:xfrm>
            <a:off x="336068" y="94759"/>
            <a:ext cx="10648057" cy="10492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" panose="020B0502020104020203" pitchFamily="34" charset="-79"/>
                <a:cs typeface="Gill Sans" panose="020B0502020104020203" pitchFamily="34" charset="-79"/>
              </a:rPr>
              <a:t>How does one work?</a:t>
            </a:r>
          </a:p>
        </p:txBody>
      </p:sp>
    </p:spTree>
    <p:extLst>
      <p:ext uri="{BB962C8B-B14F-4D97-AF65-F5344CB8AC3E}">
        <p14:creationId xmlns:p14="http://schemas.microsoft.com/office/powerpoint/2010/main" val="3570214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8D941-0986-16A4-0021-3C34D884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199136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755A51-2208-AF66-F63A-26294B1A699C}"/>
              </a:ext>
            </a:extLst>
          </p:cNvPr>
          <p:cNvSpPr txBox="1"/>
          <p:nvPr/>
        </p:nvSpPr>
        <p:spPr>
          <a:xfrm>
            <a:off x="178213" y="114392"/>
            <a:ext cx="101338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7C58E-EAA7-3473-0672-2B573D8FC088}"/>
              </a:ext>
            </a:extLst>
          </p:cNvPr>
          <p:cNvSpPr txBox="1"/>
          <p:nvPr/>
        </p:nvSpPr>
        <p:spPr>
          <a:xfrm>
            <a:off x="178213" y="1686225"/>
            <a:ext cx="98366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Look up the following words and paste in a definition. Add your home language: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Aerodynamics</a:t>
            </a:r>
          </a:p>
          <a:p>
            <a:pPr marL="514350" indent="-514350">
              <a:buAutoNum type="arabicPeriod"/>
            </a:pPr>
            <a:r>
              <a:rPr lang="en-US" sz="2800" dirty="0"/>
              <a:t>Drag</a:t>
            </a:r>
          </a:p>
          <a:p>
            <a:pPr marL="514350" indent="-514350">
              <a:buAutoNum type="arabicPeriod"/>
            </a:pPr>
            <a:r>
              <a:rPr lang="en-US" sz="2800" dirty="0"/>
              <a:t>Streamline</a:t>
            </a:r>
          </a:p>
          <a:p>
            <a:pPr marL="0" marR="0"/>
            <a:r>
              <a:rPr lang="en-GB" sz="2800" dirty="0">
                <a:effectLst/>
              </a:rPr>
              <a:t>4. </a:t>
            </a:r>
            <a:r>
              <a:rPr lang="en-GB" sz="2800" dirty="0"/>
              <a:t>P</a:t>
            </a:r>
            <a:r>
              <a:rPr lang="en-GB" sz="2800" dirty="0">
                <a:effectLst/>
              </a:rPr>
              <a:t>otential energy</a:t>
            </a:r>
          </a:p>
          <a:p>
            <a:pPr marL="0" marR="0"/>
            <a:r>
              <a:rPr lang="en-GB" sz="2800" dirty="0">
                <a:effectLst/>
              </a:rPr>
              <a:t>5. </a:t>
            </a:r>
            <a:r>
              <a:rPr lang="en-GB" sz="2800" dirty="0"/>
              <a:t>K</a:t>
            </a:r>
            <a:r>
              <a:rPr lang="en-GB" sz="2800" dirty="0">
                <a:effectLst/>
              </a:rPr>
              <a:t>inetic energy</a:t>
            </a:r>
          </a:p>
          <a:p>
            <a:pPr marL="514350" indent="-514350">
              <a:buAutoNum type="arabicPeriod"/>
            </a:pPr>
            <a:endParaRPr lang="en-US" sz="2800" dirty="0"/>
          </a:p>
          <a:p>
            <a:pPr marL="514350" indent="-51435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629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C205E-3D24-FB40-B029-A15390D6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70DE07-4A3D-159F-9D39-2C3EBD95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199136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B6DBE7-CF7A-6D35-FEF1-AB66764C1357}"/>
              </a:ext>
            </a:extLst>
          </p:cNvPr>
          <p:cNvSpPr txBox="1"/>
          <p:nvPr/>
        </p:nvSpPr>
        <p:spPr>
          <a:xfrm>
            <a:off x="178213" y="114392"/>
            <a:ext cx="101338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D1030-79EA-96CB-74BB-AD8529DB0545}"/>
              </a:ext>
            </a:extLst>
          </p:cNvPr>
          <p:cNvSpPr txBox="1"/>
          <p:nvPr/>
        </p:nvSpPr>
        <p:spPr>
          <a:xfrm>
            <a:off x="178213" y="1686225"/>
            <a:ext cx="98366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Provocation:</a:t>
            </a:r>
          </a:p>
          <a:p>
            <a:endParaRPr lang="en-US" sz="2800" dirty="0"/>
          </a:p>
          <a:p>
            <a:r>
              <a:rPr lang="en-US" sz="2800" dirty="0"/>
              <a:t>What do you think are the top 3 factors affecting the speed of the dragster?</a:t>
            </a:r>
          </a:p>
          <a:p>
            <a:pPr marL="514350" indent="-51435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113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8308-F1C7-470F-D5DF-130AF500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2B05BC-A633-1A8F-CDAD-875A715922CA}"/>
              </a:ext>
            </a:extLst>
          </p:cNvPr>
          <p:cNvSpPr txBox="1"/>
          <p:nvPr/>
        </p:nvSpPr>
        <p:spPr>
          <a:xfrm>
            <a:off x="189788" y="0"/>
            <a:ext cx="101338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fontAlgn="ctr"/>
            <a:r>
              <a:rPr lang="x-none" sz="3200">
                <a:highlight>
                  <a:srgbClr val="FFFFFF"/>
                </a:highlight>
                <a:hlinkClick r:id="rId2"/>
              </a:rPr>
              <a:t>Newton's 3 Laws, with a bicycle - Joshua Manley</a:t>
            </a:r>
            <a:endParaRPr lang="x-none" sz="3200">
              <a:highlight>
                <a:srgbClr val="FFFFFF"/>
              </a:highlight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188E8C-7A10-E991-A09B-4EA88FBA2604}"/>
              </a:ext>
            </a:extLst>
          </p:cNvPr>
          <p:cNvSpPr txBox="1"/>
          <p:nvPr/>
        </p:nvSpPr>
        <p:spPr>
          <a:xfrm>
            <a:off x="339524" y="1374573"/>
            <a:ext cx="107876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Part 1: </a:t>
            </a:r>
            <a:r>
              <a:rPr lang="en-AU" b="1" dirty="0" err="1"/>
              <a:t>Analyzing</a:t>
            </a:r>
            <a:r>
              <a:rPr lang="en-AU" b="1" dirty="0"/>
              <a:t> Inertia (Newton’s 1st Law)</a:t>
            </a:r>
          </a:p>
          <a:p>
            <a:pPr>
              <a:buNone/>
            </a:pPr>
            <a:r>
              <a:rPr lang="en-AU" i="1" dirty="0"/>
              <a:t>The video states that "Inertia" is the resistance to change.</a:t>
            </a:r>
            <a:endParaRPr lang="en-AU" dirty="0"/>
          </a:p>
          <a:p>
            <a:pPr>
              <a:buFont typeface="+mj-lt"/>
              <a:buAutoNum type="arabicPeriod"/>
            </a:pPr>
            <a:r>
              <a:rPr lang="en-AU" b="1" dirty="0"/>
              <a:t>The "Start-Up" Problem:</a:t>
            </a:r>
            <a:br>
              <a:rPr lang="en-AU" dirty="0"/>
            </a:br>
            <a:r>
              <a:rPr lang="en-AU" dirty="0"/>
              <a:t>Why requires more energy to take the first step of a run than it does to keep running at a steady speed?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AU" i="1" dirty="0"/>
              <a:t>Sentence Starter:</a:t>
            </a:r>
            <a:r>
              <a:rPr lang="en-AU" dirty="0"/>
              <a:t> It requires more energy to start because the object is at rest and wants to __________. To change this state, you must overcome __________.</a:t>
            </a:r>
          </a:p>
          <a:p>
            <a:pPr>
              <a:buFont typeface="+mj-lt"/>
              <a:buAutoNum type="arabicPeriod"/>
            </a:pPr>
            <a:r>
              <a:rPr lang="en-AU" b="1" dirty="0"/>
              <a:t>Design Application:</a:t>
            </a:r>
            <a:br>
              <a:rPr lang="en-AU" dirty="0"/>
            </a:br>
            <a:r>
              <a:rPr lang="en-AU" dirty="0"/>
              <a:t>Imagine your CO2 racer is sitting on the starting line. It has a mass of 150g. What must the CO2 cartridge provide to break the car's inertia?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AU" i="1" dirty="0"/>
              <a:t>Answer:</a:t>
            </a:r>
            <a:r>
              <a:rPr lang="en-AU" dirty="0"/>
              <a:t> The cartridge must provide an unbalanced </a:t>
            </a:r>
            <a:r>
              <a:rPr lang="en-AU" b="1" dirty="0"/>
              <a:t>F</a:t>
            </a:r>
            <a:r>
              <a:rPr lang="en-AU" dirty="0"/>
              <a:t>__________.</a:t>
            </a:r>
          </a:p>
          <a:p>
            <a:pPr>
              <a:buNone/>
            </a:pPr>
            <a:endParaRPr lang="en-AU" b="1" dirty="0"/>
          </a:p>
          <a:p>
            <a:pPr>
              <a:buNone/>
            </a:pPr>
            <a:r>
              <a:rPr lang="en-AU" b="1" dirty="0"/>
              <a:t>Part 2: Proportional Reasoning (Newton’s 2nd Law)</a:t>
            </a:r>
          </a:p>
          <a:p>
            <a:pPr>
              <a:buNone/>
            </a:pPr>
            <a:r>
              <a:rPr lang="en-AU" i="1" dirty="0"/>
              <a:t>The video explains the equation: Force = Mass × Acceleration ($F=ma$).</a:t>
            </a:r>
            <a:endParaRPr lang="en-AU" dirty="0"/>
          </a:p>
          <a:p>
            <a:pPr>
              <a:buFont typeface="+mj-lt"/>
              <a:buAutoNum type="arabicPeriod" startAt="3"/>
            </a:pPr>
            <a:r>
              <a:rPr lang="en-AU" b="1" dirty="0"/>
              <a:t>The "Constant Force" Scenario:</a:t>
            </a:r>
            <a:br>
              <a:rPr lang="en-AU" dirty="0"/>
            </a:br>
            <a:r>
              <a:rPr lang="en-AU" dirty="0"/>
              <a:t>In our project, every student uses the exact same CO2 cartridge. This means the </a:t>
            </a:r>
            <a:r>
              <a:rPr lang="en-AU" b="1" dirty="0"/>
              <a:t>Force</a:t>
            </a:r>
            <a:r>
              <a:rPr lang="en-AU" dirty="0"/>
              <a:t> is constant (it does not change).</a:t>
            </a:r>
            <a:br>
              <a:rPr lang="en-AU" dirty="0"/>
            </a:br>
            <a:r>
              <a:rPr lang="en-AU" dirty="0"/>
              <a:t>If </a:t>
            </a:r>
            <a:r>
              <a:rPr lang="en-AU" b="1" dirty="0"/>
              <a:t>Force</a:t>
            </a:r>
            <a:r>
              <a:rPr lang="en-AU" dirty="0"/>
              <a:t> stays the same, but you increase the </a:t>
            </a:r>
            <a:r>
              <a:rPr lang="en-AU" b="1" dirty="0"/>
              <a:t>Mass</a:t>
            </a:r>
            <a:r>
              <a:rPr lang="en-AU" dirty="0"/>
              <a:t> of your car, what happens to the </a:t>
            </a:r>
            <a:r>
              <a:rPr lang="en-AU" b="1" dirty="0"/>
              <a:t>Acceleration</a:t>
            </a:r>
            <a:r>
              <a:rPr lang="en-AU" dirty="0"/>
              <a:t>?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AU" i="1" dirty="0"/>
              <a:t>Sentence Starter:</a:t>
            </a:r>
            <a:r>
              <a:rPr lang="en-AU" dirty="0"/>
              <a:t> According to Newton's Second Law, if Force is constant and Mass increases, the Acceleration will __________ because Mass and Acceleration have an __________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3510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C369-B5AA-F76F-F6FF-17C03472F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A580D4-B5FD-3770-E204-5D6D9E82CD51}"/>
              </a:ext>
            </a:extLst>
          </p:cNvPr>
          <p:cNvSpPr txBox="1"/>
          <p:nvPr/>
        </p:nvSpPr>
        <p:spPr>
          <a:xfrm>
            <a:off x="189788" y="0"/>
            <a:ext cx="101338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fontAlgn="ctr"/>
            <a:r>
              <a:rPr lang="x-none" sz="3200">
                <a:highlight>
                  <a:srgbClr val="FFFFFF"/>
                </a:highlight>
                <a:hlinkClick r:id="rId2"/>
              </a:rPr>
              <a:t>Newton's 3 Laws, with a bicycle - Joshua Manley</a:t>
            </a:r>
            <a:endParaRPr lang="x-none" sz="3200">
              <a:highlight>
                <a:srgbClr val="FFFFFF"/>
              </a:highlight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D0D62-91E8-947C-E0ED-C5BFF28D5DA9}"/>
              </a:ext>
            </a:extLst>
          </p:cNvPr>
          <p:cNvSpPr txBox="1"/>
          <p:nvPr/>
        </p:nvSpPr>
        <p:spPr>
          <a:xfrm>
            <a:off x="390048" y="1305786"/>
            <a:ext cx="1141190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3"/>
            </a:pPr>
            <a:r>
              <a:rPr lang="en-AU" b="1" dirty="0"/>
              <a:t>Mathematical Proof:</a:t>
            </a:r>
            <a:endParaRPr lang="en-AU" dirty="0"/>
          </a:p>
          <a:p>
            <a:pPr marL="742950" lvl="1" indent="-285750">
              <a:buFont typeface="+mj-lt"/>
              <a:buAutoNum type="arabicPeriod" startAt="3"/>
            </a:pPr>
            <a:r>
              <a:rPr lang="en-AU" b="1" dirty="0"/>
              <a:t>Car A</a:t>
            </a:r>
            <a:r>
              <a:rPr lang="en-AU" dirty="0"/>
              <a:t> has a mass of 50g.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AU" b="1" dirty="0"/>
              <a:t>Car B</a:t>
            </a:r>
            <a:r>
              <a:rPr lang="en-AU" dirty="0"/>
              <a:t> has a mass of 100g.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AU" dirty="0"/>
              <a:t>Both are pushed with 10N of Force.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AU" i="1" dirty="0"/>
              <a:t>Calculate:</a:t>
            </a:r>
            <a:r>
              <a:rPr lang="en-AU" dirty="0"/>
              <a:t> Which car accelerates faster, and by how much?</a:t>
            </a:r>
          </a:p>
          <a:p>
            <a:pPr marL="742950" lvl="1" indent="-285750">
              <a:buFont typeface="+mj-lt"/>
              <a:buAutoNum type="arabicPeriod" startAt="3"/>
            </a:pPr>
            <a:r>
              <a:rPr lang="en-AU" i="1" dirty="0"/>
              <a:t>Answer:</a:t>
            </a:r>
            <a:r>
              <a:rPr lang="en-AU" dirty="0"/>
              <a:t> Car ___ accelerates ___ times faster than Car ___.</a:t>
            </a:r>
          </a:p>
          <a:p>
            <a:pPr>
              <a:buNone/>
            </a:pPr>
            <a:endParaRPr lang="en-AU" b="1" dirty="0"/>
          </a:p>
          <a:p>
            <a:pPr>
              <a:buNone/>
            </a:pPr>
            <a:r>
              <a:rPr lang="en-AU" b="1" dirty="0"/>
              <a:t>Part 3: Vector Analysis (Newton’s 3rd Law)</a:t>
            </a:r>
          </a:p>
          <a:p>
            <a:pPr>
              <a:buNone/>
            </a:pPr>
            <a:r>
              <a:rPr lang="en-AU" i="1" dirty="0"/>
              <a:t>The video explains Action and Reaction pairs.</a:t>
            </a:r>
            <a:endParaRPr lang="en-AU" dirty="0"/>
          </a:p>
          <a:p>
            <a:pPr>
              <a:buFont typeface="+mj-lt"/>
              <a:buAutoNum type="arabicPeriod" startAt="5"/>
            </a:pPr>
            <a:r>
              <a:rPr lang="en-AU" b="1" dirty="0"/>
              <a:t>The Direction Paradox:</a:t>
            </a:r>
            <a:br>
              <a:rPr lang="en-AU" dirty="0"/>
            </a:br>
            <a:r>
              <a:rPr lang="en-AU" dirty="0"/>
              <a:t>To move the bicycle </a:t>
            </a:r>
            <a:r>
              <a:rPr lang="en-AU" b="1" dirty="0"/>
              <a:t>Forward</a:t>
            </a:r>
            <a:r>
              <a:rPr lang="en-AU" dirty="0"/>
              <a:t>, the tires must apply a force to the ground in which direction? Explain why using the concept of "Reaction."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AU" i="1" dirty="0"/>
              <a:t>Sentence Starter:</a:t>
            </a:r>
            <a:r>
              <a:rPr lang="en-AU" dirty="0"/>
              <a:t> To move forward, the tires must push __________. The ground reacts by pushing __________ with an __________ amount of force.</a:t>
            </a:r>
          </a:p>
          <a:p>
            <a:pPr>
              <a:buFont typeface="+mj-lt"/>
              <a:buAutoNum type="arabicPeriod" startAt="5"/>
            </a:pPr>
            <a:r>
              <a:rPr lang="en-AU" b="1" dirty="0"/>
              <a:t>The "Earth" Question:</a:t>
            </a:r>
            <a:br>
              <a:rPr lang="en-AU" dirty="0"/>
            </a:br>
            <a:r>
              <a:rPr lang="en-AU" dirty="0"/>
              <a:t>The video claims the Earth "barely moves" when the bike pushes it. Why does the bike move a lot, but the Earth moves a little, even though the Force is the same? (Hint: Use Newton's 2nd Law).</a:t>
            </a:r>
          </a:p>
          <a:p>
            <a:pPr marL="742950" lvl="1" indent="-285750">
              <a:buFont typeface="+mj-lt"/>
              <a:buAutoNum type="arabicPeriod" startAt="5"/>
            </a:pPr>
            <a:r>
              <a:rPr lang="en-AU" i="1" dirty="0"/>
              <a:t>Sentence Starter:</a:t>
            </a:r>
            <a:r>
              <a:rPr lang="en-AU" dirty="0"/>
              <a:t> Even though the force is equal, the Earth does not accelerate visibly because its __________ is extremely large compared to the bicycle.</a:t>
            </a:r>
          </a:p>
        </p:txBody>
      </p:sp>
    </p:spTree>
    <p:extLst>
      <p:ext uri="{BB962C8B-B14F-4D97-AF65-F5344CB8AC3E}">
        <p14:creationId xmlns:p14="http://schemas.microsoft.com/office/powerpoint/2010/main" val="421021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5FB0-9C76-FD9D-3367-9E2D75A2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98FB48-4556-EE93-F057-4A08BAF8A88C}"/>
              </a:ext>
            </a:extLst>
          </p:cNvPr>
          <p:cNvSpPr txBox="1"/>
          <p:nvPr/>
        </p:nvSpPr>
        <p:spPr>
          <a:xfrm>
            <a:off x="189788" y="0"/>
            <a:ext cx="101338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fontAlgn="ctr"/>
            <a:r>
              <a:rPr lang="x-none" sz="3200">
                <a:highlight>
                  <a:srgbClr val="FFFFFF"/>
                </a:highlight>
                <a:hlinkClick r:id="rId2"/>
              </a:rPr>
              <a:t>Newton's 3 Laws, with a bicycle - Joshua Manley</a:t>
            </a:r>
            <a:endParaRPr lang="x-none" sz="3200">
              <a:highlight>
                <a:srgbClr val="FFFFFF"/>
              </a:highlight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232E2-0E08-0534-5460-284C2283DD0D}"/>
              </a:ext>
            </a:extLst>
          </p:cNvPr>
          <p:cNvSpPr txBox="1"/>
          <p:nvPr/>
        </p:nvSpPr>
        <p:spPr>
          <a:xfrm>
            <a:off x="497711" y="1677435"/>
            <a:ext cx="109612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/>
              <a:t>Part 4: The Design Hypothesis (Criterion B Preparation)</a:t>
            </a:r>
          </a:p>
          <a:p>
            <a:pPr>
              <a:buNone/>
            </a:pPr>
            <a:r>
              <a:rPr lang="en-AU" i="1" dirty="0"/>
              <a:t>Synthesize all three laws.</a:t>
            </a:r>
            <a:endParaRPr lang="en-AU" dirty="0"/>
          </a:p>
          <a:p>
            <a:pPr>
              <a:buFont typeface="+mj-lt"/>
              <a:buAutoNum type="arabicPeriod" startAt="7"/>
            </a:pPr>
            <a:r>
              <a:rPr lang="en-AU" b="1" dirty="0"/>
              <a:t>The Winning Strategy:</a:t>
            </a:r>
            <a:br>
              <a:rPr lang="en-AU" dirty="0"/>
            </a:br>
            <a:r>
              <a:rPr lang="en-AU" dirty="0"/>
              <a:t>Based on this video, write a hypothesis for your CO2 dragster. To get the fastest time, what must you minimize and what must you maximize? </a:t>
            </a:r>
          </a:p>
          <a:p>
            <a:pPr marL="742950" lvl="1" indent="-285750">
              <a:buFont typeface="+mj-lt"/>
              <a:buAutoNum type="arabicPeriod" startAt="7"/>
            </a:pPr>
            <a:r>
              <a:rPr lang="en-AU" i="1" dirty="0"/>
              <a:t>Sentence Starter:</a:t>
            </a:r>
            <a:r>
              <a:rPr lang="en-AU" dirty="0"/>
              <a:t> To achieve the highest acceleration, I must minimize the __________ of the car to reduce the resistance to the Force. However, I must ensure the wheels maintain contact with the ground to utilize the __________ force (Newton's 3rd Law).</a:t>
            </a:r>
          </a:p>
        </p:txBody>
      </p:sp>
    </p:spTree>
    <p:extLst>
      <p:ext uri="{BB962C8B-B14F-4D97-AF65-F5344CB8AC3E}">
        <p14:creationId xmlns:p14="http://schemas.microsoft.com/office/powerpoint/2010/main" val="3356626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B72F-705A-29F1-1477-3D73F690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4B81D6-CFAA-0132-2FEE-B6C39ECBB2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199136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2CFF5E-5986-D7A7-DA97-B8E92BBAB983}"/>
              </a:ext>
            </a:extLst>
          </p:cNvPr>
          <p:cNvSpPr txBox="1"/>
          <p:nvPr/>
        </p:nvSpPr>
        <p:spPr>
          <a:xfrm>
            <a:off x="178213" y="114392"/>
            <a:ext cx="101338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4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fontAlgn="ctr"/>
            <a:r>
              <a:rPr lang="en-GB" sz="2000" dirty="0">
                <a:highlight>
                  <a:srgbClr val="FFFFFF"/>
                </a:highlight>
                <a:latin typeface="Helvetica" pitchFamily="2" charset="0"/>
              </a:rPr>
              <a:t>Watch this video </a:t>
            </a:r>
            <a:r>
              <a:rPr lang="en-GB" sz="2000" dirty="0">
                <a:highlight>
                  <a:srgbClr val="FFFFFF"/>
                </a:highlight>
                <a:latin typeface="Helvetica" pitchFamily="2" charset="0"/>
                <a:hlinkClick r:id="rId3"/>
              </a:rPr>
              <a:t>https://www.youtube.com/watch?v=189TD4czV3s</a:t>
            </a:r>
            <a:endParaRPr lang="en-GB" sz="2000" dirty="0">
              <a:highlight>
                <a:srgbClr val="FFFFFF"/>
              </a:highlight>
              <a:latin typeface="Helvetica" pitchFamily="2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0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r>
              <a:rPr lang="en-US" sz="2400" dirty="0"/>
              <a:t>Answer these questions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37CA88-BCF4-2923-4B00-E26C693D9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40315"/>
              </p:ext>
            </p:extLst>
          </p:nvPr>
        </p:nvGraphicFramePr>
        <p:xfrm>
          <a:off x="260868" y="3481388"/>
          <a:ext cx="9554464" cy="2468880"/>
        </p:xfrm>
        <a:graphic>
          <a:graphicData uri="http://schemas.openxmlformats.org/drawingml/2006/table">
            <a:tbl>
              <a:tblPr/>
              <a:tblGrid>
                <a:gridCol w="4777232">
                  <a:extLst>
                    <a:ext uri="{9D8B030D-6E8A-4147-A177-3AD203B41FA5}">
                      <a16:colId xmlns:a16="http://schemas.microsoft.com/office/drawing/2014/main" val="2250883536"/>
                    </a:ext>
                  </a:extLst>
                </a:gridCol>
                <a:gridCol w="4777232">
                  <a:extLst>
                    <a:ext uri="{9D8B030D-6E8A-4147-A177-3AD203B41FA5}">
                      <a16:colId xmlns:a16="http://schemas.microsoft.com/office/drawing/2014/main" val="1328081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>
                          <a:solidFill>
                            <a:schemeClr val="bg1"/>
                          </a:solidFill>
                          <a:effectLst/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dirty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89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>
                          <a:effectLst/>
                        </a:rPr>
                        <a:t>1. Gravity</a:t>
                      </a:r>
                      <a:endParaRPr lang="en-A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>
                          <a:effectLst/>
                        </a:rPr>
                        <a:t>A. The force that pulls the car down to the ground.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127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>
                          <a:effectLst/>
                        </a:rPr>
                        <a:t>2. Friction</a:t>
                      </a:r>
                      <a:endParaRPr lang="en-A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>
                          <a:effectLst/>
                        </a:rPr>
                        <a:t>B. The "push" or "pull" on an object.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273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>
                          <a:effectLst/>
                        </a:rPr>
                        <a:t>3. Mass</a:t>
                      </a:r>
                      <a:endParaRPr lang="en-A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>
                          <a:effectLst/>
                        </a:rPr>
                        <a:t>C. When the air slows down the car.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89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>
                          <a:effectLst/>
                        </a:rPr>
                        <a:t>4. Air Resistance</a:t>
                      </a:r>
                      <a:endParaRPr lang="en-A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>
                          <a:effectLst/>
                        </a:rPr>
                        <a:t>D. How heavy the car 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12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>
                          <a:effectLst/>
                        </a:rPr>
                        <a:t>5. Force</a:t>
                      </a:r>
                      <a:endParaRPr lang="en-AU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dirty="0">
                          <a:effectLst/>
                        </a:rPr>
                        <a:t>E. Rubbing between the wheels and the track.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65391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46AE31A-689C-0F2B-3CBD-D3EC82A79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13" y="22117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1: Vocabulary Match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 the word to the definition.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16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365B-49B7-0F39-312F-3989AC54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ED5632-87E4-F974-3C26-DEB6974E0F1B}"/>
              </a:ext>
            </a:extLst>
          </p:cNvPr>
          <p:cNvSpPr txBox="1"/>
          <p:nvPr/>
        </p:nvSpPr>
        <p:spPr>
          <a:xfrm>
            <a:off x="178213" y="114392"/>
            <a:ext cx="101338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4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fontAlgn="ctr"/>
            <a:r>
              <a:rPr lang="en-GB" sz="2000" dirty="0">
                <a:highlight>
                  <a:srgbClr val="FFFFFF"/>
                </a:highlight>
                <a:latin typeface="Helvetica" pitchFamily="2" charset="0"/>
              </a:rPr>
              <a:t>Watch this video </a:t>
            </a:r>
            <a:r>
              <a:rPr lang="en-GB" sz="2000" dirty="0">
                <a:highlight>
                  <a:srgbClr val="FFFFFF"/>
                </a:highlight>
                <a:latin typeface="Helvetica" pitchFamily="2" charset="0"/>
                <a:hlinkClick r:id="rId2"/>
              </a:rPr>
              <a:t>https://www.youtube.com/watch?v=189TD4czV3s</a:t>
            </a:r>
            <a:endParaRPr lang="en-GB" sz="2000" dirty="0">
              <a:highlight>
                <a:srgbClr val="FFFFFF"/>
              </a:highlight>
              <a:latin typeface="Helvetica" pitchFamily="2" charset="0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0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r>
              <a:rPr lang="en-US" sz="2400" dirty="0"/>
              <a:t>Answer these questions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1D66BB1-B76D-C690-1AD1-9DBFE8D56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07" y="43062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2: Newton’s 1st Law (Objects at Rest &amp; Motion)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Circle the correct answer.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Start: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car sits on the launcher. It is at rest. What provides the "Unbalanced Force" to make it move?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Gravity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The Air Pressure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C. The Wheels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Moving: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car slows down because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unbalanced forces. Circle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forces below: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Gravity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Magic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 Resistance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Check: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Why did we put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plastic straws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around the axles?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Starter: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used straws to reduce ____________________.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701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962A-5737-ECC5-641E-554CCDD8C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41DE41-B0F4-50D2-5747-0913B070E250}"/>
              </a:ext>
            </a:extLst>
          </p:cNvPr>
          <p:cNvSpPr txBox="1"/>
          <p:nvPr/>
        </p:nvSpPr>
        <p:spPr>
          <a:xfrm>
            <a:off x="178213" y="114392"/>
            <a:ext cx="10133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24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BE9800C-8C41-AE10-C24F-7ECA4AFE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13" y="191191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3: Newton’s 2nd Law (Force = Mass x Acceleration)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video says the Force (Air Pressure) is the same for everyone (75 psi).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Rule: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Mass (Heavy Car)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Faster / Slower 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Acceleration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Mass (Light Car)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Faster / Slower ]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Acceleration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Reason: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Starter: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heavier car is slower because the air pressure has to do more ___________ to get it moving.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80B3C452-6655-6722-00B9-0BC5A795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84" y="51174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4: Newton’s 3rd Law (Action &amp; Reaction)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 in the blanks using the words in the box.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Forward / Backward / Wall / Air 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Start (The Launch):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___________ pushes out the back of the car.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car moves ___________ with the same amount of force.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Finish (The Stop):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car hits the foam ___________.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car bounces ___________.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121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8D62-6620-917C-D82F-129EBB88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0826E9-5DDE-6495-5B4C-921828F51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199136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924C02-AC20-F7AF-04BE-E35D42E0EACA}"/>
              </a:ext>
            </a:extLst>
          </p:cNvPr>
          <p:cNvSpPr txBox="1"/>
          <p:nvPr/>
        </p:nvSpPr>
        <p:spPr>
          <a:xfrm>
            <a:off x="178213" y="114392"/>
            <a:ext cx="1013381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Answer 1 paragraph each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600" b="1" dirty="0">
              <a:solidFill>
                <a:srgbClr val="333333"/>
              </a:solidFill>
              <a:effectLst/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93567-8359-F877-9FC2-A0EA13579AB4}"/>
              </a:ext>
            </a:extLst>
          </p:cNvPr>
          <p:cNvSpPr txBox="1"/>
          <p:nvPr/>
        </p:nvSpPr>
        <p:spPr>
          <a:xfrm>
            <a:off x="178213" y="2487842"/>
            <a:ext cx="983663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buAutoNum type="arabicPeriod"/>
            </a:pPr>
            <a:r>
              <a:rPr lang="en-GB" sz="1800" i="1" dirty="0">
                <a:effectLst/>
                <a:latin typeface="Helvetica" pitchFamily="2" charset="0"/>
              </a:rPr>
              <a:t>Explain how each of the above Laws of Motion is important to your CO2 dragster</a:t>
            </a:r>
          </a:p>
          <a:p>
            <a:pPr marL="342900" marR="0" indent="-342900">
              <a:buAutoNum type="arabicPeriod"/>
            </a:pPr>
            <a:endParaRPr lang="en-GB" i="1" dirty="0">
              <a:latin typeface="Helvetica" pitchFamily="2" charset="0"/>
            </a:endParaRPr>
          </a:p>
          <a:p>
            <a:pPr marR="0"/>
            <a:endParaRPr lang="en-GB" sz="1800" dirty="0">
              <a:effectLst/>
              <a:latin typeface="Helvetica" pitchFamily="2" charset="0"/>
            </a:endParaRPr>
          </a:p>
          <a:p>
            <a:pPr marR="0"/>
            <a:endParaRPr lang="en-GB" sz="1800" dirty="0">
              <a:effectLst/>
              <a:latin typeface="Helvetica" pitchFamily="2" charset="0"/>
            </a:endParaRPr>
          </a:p>
          <a:p>
            <a:pPr marL="0" marR="0"/>
            <a:r>
              <a:rPr lang="en-GB" sz="1800" i="1" dirty="0">
                <a:effectLst/>
                <a:latin typeface="Helvetica" pitchFamily="2" charset="0"/>
              </a:rPr>
              <a:t>2. What causes a C02 dragster to decelerate?</a:t>
            </a:r>
          </a:p>
          <a:p>
            <a:pPr marL="0" marR="0"/>
            <a:endParaRPr lang="en-GB" i="1" dirty="0">
              <a:latin typeface="Helvetica" pitchFamily="2" charset="0"/>
            </a:endParaRPr>
          </a:p>
          <a:p>
            <a:pPr marL="0" marR="0"/>
            <a:endParaRPr lang="en-GB" i="1" dirty="0">
              <a:latin typeface="Helvetica" pitchFamily="2" charset="0"/>
            </a:endParaRPr>
          </a:p>
          <a:p>
            <a:pPr marL="0" marR="0"/>
            <a:endParaRPr lang="en-GB" sz="1800" i="1" dirty="0">
              <a:effectLst/>
              <a:latin typeface="Helvetica" pitchFamily="2" charset="0"/>
            </a:endParaRPr>
          </a:p>
          <a:p>
            <a:pPr marL="0" marR="0"/>
            <a:endParaRPr lang="en-GB" sz="1800" dirty="0">
              <a:effectLst/>
              <a:latin typeface="Helvetica" pitchFamily="2" charset="0"/>
            </a:endParaRPr>
          </a:p>
          <a:p>
            <a:pPr marL="0" marR="0"/>
            <a:r>
              <a:rPr lang="en-GB" i="1" dirty="0">
                <a:latin typeface="Helvetica" pitchFamily="2" charset="0"/>
              </a:rPr>
              <a:t>3</a:t>
            </a:r>
            <a:r>
              <a:rPr lang="en-GB" sz="1800" i="1" dirty="0">
                <a:effectLst/>
                <a:latin typeface="Helvetica" pitchFamily="2" charset="0"/>
              </a:rPr>
              <a:t>. What happens to kinetic energy when your car stops at the end of the track?</a:t>
            </a:r>
          </a:p>
          <a:p>
            <a:pPr marL="0" marR="0"/>
            <a:endParaRPr lang="en-GB" i="1" dirty="0">
              <a:latin typeface="Helvetica" pitchFamily="2" charset="0"/>
            </a:endParaRPr>
          </a:p>
          <a:p>
            <a:pPr marL="0" marR="0"/>
            <a:endParaRPr lang="en-GB" sz="1800" i="1" dirty="0">
              <a:effectLst/>
              <a:latin typeface="Helvetica" pitchFamily="2" charset="0"/>
            </a:endParaRPr>
          </a:p>
          <a:p>
            <a:pPr marL="0" marR="0"/>
            <a:endParaRPr lang="en-GB" i="1" dirty="0">
              <a:latin typeface="Helvetica" pitchFamily="2" charset="0"/>
            </a:endParaRPr>
          </a:p>
          <a:p>
            <a:pPr marL="0" marR="0"/>
            <a:endParaRPr lang="en-GB" sz="1800" dirty="0">
              <a:effectLst/>
              <a:latin typeface="Helvetica" pitchFamily="2" charset="0"/>
            </a:endParaRPr>
          </a:p>
          <a:p>
            <a:pPr marL="0" marR="0"/>
            <a:r>
              <a:rPr lang="en-GB" sz="1800" dirty="0">
                <a:effectLst/>
                <a:latin typeface="Helvetica" pitchFamily="2" charset="0"/>
              </a:rPr>
              <a:t> 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491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43997-BEF6-E61E-1047-6397EC38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9ADC07-77BE-B032-191B-F7CF5C04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67" b="24667"/>
          <a:stretch/>
        </p:blipFill>
        <p:spPr>
          <a:xfrm>
            <a:off x="10199136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A66405-1758-08A8-ECDC-C59B90B7EAE0}"/>
              </a:ext>
            </a:extLst>
          </p:cNvPr>
          <p:cNvSpPr txBox="1"/>
          <p:nvPr/>
        </p:nvSpPr>
        <p:spPr>
          <a:xfrm>
            <a:off x="178213" y="114392"/>
            <a:ext cx="101338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ctr"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ill Sans" panose="020B0502020104020203" pitchFamily="34" charset="-79"/>
                <a:cs typeface="Gill Sans" panose="020B0502020104020203" pitchFamily="34" charset="-79"/>
              </a:rPr>
              <a:t>Task 1: Research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600" b="1" dirty="0">
              <a:solidFill>
                <a:srgbClr val="333333"/>
              </a:solidFill>
              <a:highlight>
                <a:srgbClr val="FFFFFF"/>
              </a:highlight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rtl="0" fontAlgn="ctr">
              <a:spcBef>
                <a:spcPts val="0"/>
              </a:spcBef>
              <a:spcAft>
                <a:spcPts val="0"/>
              </a:spcAft>
            </a:pPr>
            <a:endParaRPr lang="en-GB" sz="3200" b="1" dirty="0">
              <a:solidFill>
                <a:srgbClr val="333333"/>
              </a:solidFill>
              <a:effectLst/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1F61A-E3DF-A782-EC7D-8BFFB79C1C68}"/>
              </a:ext>
            </a:extLst>
          </p:cNvPr>
          <p:cNvSpPr txBox="1"/>
          <p:nvPr/>
        </p:nvSpPr>
        <p:spPr>
          <a:xfrm>
            <a:off x="178213" y="1237776"/>
            <a:ext cx="9836632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Helvetica" pitchFamily="2" charset="0"/>
              </a:rPr>
              <a:t>4. If there were no air or no gravity, what would happen to the car once it was started?</a:t>
            </a:r>
            <a:endParaRPr lang="en-GB" dirty="0">
              <a:latin typeface="Helvetica" pitchFamily="2" charset="0"/>
            </a:endParaRPr>
          </a:p>
          <a:p>
            <a:pPr marR="0"/>
            <a:endParaRPr lang="en-GB" sz="1800" i="1" dirty="0">
              <a:effectLst/>
              <a:latin typeface="Helvetica" pitchFamily="2" charset="0"/>
            </a:endParaRPr>
          </a:p>
          <a:p>
            <a:pPr marR="0"/>
            <a:endParaRPr lang="en-GB" i="1" dirty="0">
              <a:latin typeface="Helvetica" pitchFamily="2" charset="0"/>
            </a:endParaRPr>
          </a:p>
          <a:p>
            <a:pPr marR="0"/>
            <a:endParaRPr lang="en-GB" sz="1800" i="1" dirty="0">
              <a:effectLst/>
              <a:latin typeface="Helvetica" pitchFamily="2" charset="0"/>
            </a:endParaRPr>
          </a:p>
          <a:p>
            <a:pPr marR="0"/>
            <a:endParaRPr lang="en-GB" i="1" dirty="0">
              <a:latin typeface="Helvetica" pitchFamily="2" charset="0"/>
            </a:endParaRPr>
          </a:p>
          <a:p>
            <a:pPr marR="0"/>
            <a:endParaRPr lang="en-GB" sz="1800" i="1" dirty="0">
              <a:effectLst/>
              <a:latin typeface="Helvetica" pitchFamily="2" charset="0"/>
            </a:endParaRPr>
          </a:p>
          <a:p>
            <a:pPr marR="0"/>
            <a:endParaRPr lang="en-GB" i="1" dirty="0">
              <a:latin typeface="Helvetica" pitchFamily="2" charset="0"/>
            </a:endParaRPr>
          </a:p>
          <a:p>
            <a:pPr marR="0"/>
            <a:r>
              <a:rPr lang="en-GB" sz="1800" i="1" dirty="0">
                <a:effectLst/>
                <a:latin typeface="Helvetica" pitchFamily="2" charset="0"/>
              </a:rPr>
              <a:t>5. Explain what happens when you puncture a C02 canister</a:t>
            </a:r>
          </a:p>
          <a:p>
            <a:pPr marL="342900" marR="0" indent="-342900">
              <a:buAutoNum type="arabicPeriod"/>
            </a:pPr>
            <a:endParaRPr lang="en-GB" i="1" dirty="0">
              <a:latin typeface="Helvetica" pitchFamily="2" charset="0"/>
            </a:endParaRPr>
          </a:p>
          <a:p>
            <a:pPr marR="0"/>
            <a:endParaRPr lang="en-GB" sz="1800" dirty="0">
              <a:effectLst/>
              <a:latin typeface="Helvetica" pitchFamily="2" charset="0"/>
            </a:endParaRPr>
          </a:p>
          <a:p>
            <a:pPr marR="0"/>
            <a:endParaRPr lang="en-GB" dirty="0">
              <a:latin typeface="Helvetica" pitchFamily="2" charset="0"/>
            </a:endParaRPr>
          </a:p>
          <a:p>
            <a:pPr marR="0"/>
            <a:endParaRPr lang="en-GB" sz="1800" dirty="0">
              <a:effectLst/>
              <a:latin typeface="Helvetica" pitchFamily="2" charset="0"/>
            </a:endParaRPr>
          </a:p>
          <a:p>
            <a:pPr marR="0"/>
            <a:endParaRPr lang="en-GB" sz="1800" dirty="0">
              <a:effectLst/>
              <a:latin typeface="Helvetica" pitchFamily="2" charset="0"/>
            </a:endParaRPr>
          </a:p>
          <a:p>
            <a:pPr marR="0"/>
            <a:endParaRPr lang="en-GB" sz="1800" dirty="0">
              <a:effectLst/>
              <a:latin typeface="Helvetica" pitchFamily="2" charset="0"/>
            </a:endParaRPr>
          </a:p>
          <a:p>
            <a:pPr marL="0" marR="0"/>
            <a:r>
              <a:rPr lang="en-GB" i="1" dirty="0">
                <a:latin typeface="Helvetica" pitchFamily="2" charset="0"/>
              </a:rPr>
              <a:t>6. </a:t>
            </a:r>
            <a:r>
              <a:rPr lang="en-GB" sz="1800" i="1" dirty="0">
                <a:effectLst/>
                <a:latin typeface="Helvetica" pitchFamily="2" charset="0"/>
              </a:rPr>
              <a:t>How do you determine the speed of the C02 dragster?</a:t>
            </a:r>
          </a:p>
          <a:p>
            <a:pPr marL="0" marR="0"/>
            <a:endParaRPr lang="en-GB" i="1" dirty="0">
              <a:latin typeface="Helvetica" pitchFamily="2" charset="0"/>
            </a:endParaRPr>
          </a:p>
          <a:p>
            <a:pPr marL="0" marR="0"/>
            <a:endParaRPr lang="en-GB" i="1" dirty="0">
              <a:latin typeface="Helvetica" pitchFamily="2" charset="0"/>
            </a:endParaRPr>
          </a:p>
          <a:p>
            <a:pPr marL="0" marR="0"/>
            <a:endParaRPr lang="en-GB" sz="1800" i="1" dirty="0">
              <a:effectLst/>
              <a:latin typeface="Helvetica" pitchFamily="2" charset="0"/>
            </a:endParaRPr>
          </a:p>
          <a:p>
            <a:pPr marL="0" marR="0"/>
            <a:r>
              <a:rPr lang="en-GB" sz="1800" dirty="0">
                <a:effectLst/>
                <a:latin typeface="Helvetica" pitchFamily="2" charset="0"/>
              </a:rPr>
              <a:t> 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6093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EBE1-DFDE-6AEA-FFF2-C8CA2FC9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EA555-7C78-3B38-AA14-7D1F15742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32" y="1570443"/>
            <a:ext cx="110383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Add ASA style bibliography on this page for ALL sources used.</a:t>
            </a:r>
          </a:p>
          <a:p>
            <a:pPr marL="0" indent="0">
              <a:buNone/>
            </a:pPr>
            <a:r>
              <a:rPr lang="en-US" sz="1800" dirty="0"/>
              <a:t>If you used AI also include which one you used, and how you used it including the prompt you used.</a:t>
            </a:r>
          </a:p>
        </p:txBody>
      </p:sp>
    </p:spTree>
    <p:extLst>
      <p:ext uri="{BB962C8B-B14F-4D97-AF65-F5344CB8AC3E}">
        <p14:creationId xmlns:p14="http://schemas.microsoft.com/office/powerpoint/2010/main" val="963034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BF1A-7FB2-696F-CC9B-FAF648AA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-298032"/>
            <a:ext cx="10515600" cy="1325563"/>
          </a:xfrm>
        </p:spPr>
        <p:txBody>
          <a:bodyPr/>
          <a:lstStyle/>
          <a:p>
            <a:r>
              <a:rPr lang="en-US" dirty="0"/>
              <a:t>Marking Guide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11D11A-2F91-3CC4-4C3F-B7458D4AC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42918"/>
              </p:ext>
            </p:extLst>
          </p:nvPr>
        </p:nvGraphicFramePr>
        <p:xfrm>
          <a:off x="196948" y="879676"/>
          <a:ext cx="11676184" cy="597498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919046">
                  <a:extLst>
                    <a:ext uri="{9D8B030D-6E8A-4147-A177-3AD203B41FA5}">
                      <a16:colId xmlns:a16="http://schemas.microsoft.com/office/drawing/2014/main" val="1192714595"/>
                    </a:ext>
                  </a:extLst>
                </a:gridCol>
                <a:gridCol w="2919046">
                  <a:extLst>
                    <a:ext uri="{9D8B030D-6E8A-4147-A177-3AD203B41FA5}">
                      <a16:colId xmlns:a16="http://schemas.microsoft.com/office/drawing/2014/main" val="426983127"/>
                    </a:ext>
                  </a:extLst>
                </a:gridCol>
                <a:gridCol w="2919046">
                  <a:extLst>
                    <a:ext uri="{9D8B030D-6E8A-4147-A177-3AD203B41FA5}">
                      <a16:colId xmlns:a16="http://schemas.microsoft.com/office/drawing/2014/main" val="1566260422"/>
                    </a:ext>
                  </a:extLst>
                </a:gridCol>
                <a:gridCol w="2919046">
                  <a:extLst>
                    <a:ext uri="{9D8B030D-6E8A-4147-A177-3AD203B41FA5}">
                      <a16:colId xmlns:a16="http://schemas.microsoft.com/office/drawing/2014/main" val="3133430321"/>
                    </a:ext>
                  </a:extLst>
                </a:gridCol>
              </a:tblGrid>
              <a:tr h="244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>
                          <a:effectLst/>
                        </a:rPr>
                        <a:t>Level</a:t>
                      </a:r>
                    </a:p>
                  </a:txBody>
                  <a:tcPr marL="19085" marR="19085" marT="9542" marB="9542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Description of Physics Understanding</a:t>
                      </a:r>
                    </a:p>
                  </a:txBody>
                  <a:tcPr marL="19085" marR="19085" marT="9542" marB="9542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>
                          <a:effectLst/>
                        </a:rPr>
                        <a:t>Key "Design Science" Vocabulary Required</a:t>
                      </a:r>
                    </a:p>
                  </a:txBody>
                  <a:tcPr marL="19085" marR="19085" marT="9542" marB="9542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Academic Honesty &amp; AI Usage</a:t>
                      </a:r>
                    </a:p>
                  </a:txBody>
                  <a:tcPr marL="19085" marR="19085" marT="9542" marB="9542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893622"/>
                  </a:ext>
                </a:extLst>
              </a:tr>
              <a:tr h="3648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>
                          <a:effectLst/>
                        </a:rPr>
                        <a:t>0</a:t>
                      </a: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>
                          <a:effectLst/>
                        </a:rPr>
                        <a:t>The student does not reach a standard described by any of the descriptors below.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3177264741"/>
                  </a:ext>
                </a:extLst>
              </a:tr>
              <a:tr h="11264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>
                          <a:effectLst/>
                        </a:rPr>
                        <a:t>1-2</a:t>
                      </a: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Limited Understanding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Q1-5:</a:t>
                      </a:r>
                      <a:r>
                        <a:rPr lang="en-AU" sz="1000" dirty="0">
                          <a:effectLst/>
                        </a:rPr>
                        <a:t> Student states Newton's Laws but does not explain how they apply to the dragster. Answers are very short or copied from Google.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Q6:</a:t>
                      </a:r>
                      <a:r>
                        <a:rPr lang="en-AU" sz="1000" dirty="0">
                          <a:effectLst/>
                        </a:rPr>
                        <a:t> Student cannot explain how to calculate speed.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Scaffold Check:</a:t>
                      </a:r>
                      <a:r>
                        <a:rPr lang="en-AU" sz="1000" dirty="0">
                          <a:effectLst/>
                        </a:rPr>
                        <a:t> Student relies heavily on translation tools without editing.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Must use basic terms: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Speed / Fast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Push / Pull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Heavy / Light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Limited Honesty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No sources listed.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AI is used to write the answer for the student (Red Light).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2215145025"/>
                  </a:ext>
                </a:extLst>
              </a:tr>
              <a:tr h="12231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>
                          <a:effectLst/>
                        </a:rPr>
                        <a:t>3-4</a:t>
                      </a: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Adequate Understanding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Q1-5:</a:t>
                      </a:r>
                      <a:r>
                        <a:rPr lang="en-AU" sz="1000" dirty="0">
                          <a:effectLst/>
                        </a:rPr>
                        <a:t> Student explains the laws and makes basic connections to the car (e.g., "Friction makes the car stop").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Q6:</a:t>
                      </a:r>
                      <a:r>
                        <a:rPr lang="en-AU" sz="1000" dirty="0">
                          <a:effectLst/>
                        </a:rPr>
                        <a:t> Student mentions "Speed" and "Time" but may miss the formula.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Scaffold Check:</a:t>
                      </a:r>
                      <a:r>
                        <a:rPr lang="en-AU" sz="1000" dirty="0">
                          <a:effectLst/>
                        </a:rPr>
                        <a:t> Explanations are correct but may lack scientific depth.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Must use these terms: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Friction / Air Resistance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Weight / Mass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Force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Newton's 1st, 2nd, 3rd Law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Adequate Honesty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A list of URLs is provided.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AI is used, but the student does not show the prompt.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333697524"/>
                  </a:ext>
                </a:extLst>
              </a:tr>
              <a:tr h="13948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>
                          <a:effectLst/>
                        </a:rPr>
                        <a:t>5-6</a:t>
                      </a: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Substantial Understanding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Q1-5:</a:t>
                      </a:r>
                      <a:r>
                        <a:rPr lang="en-AU" sz="1000" dirty="0">
                          <a:effectLst/>
                        </a:rPr>
                        <a:t> Student explains the </a:t>
                      </a:r>
                      <a:r>
                        <a:rPr lang="en-AU" sz="1000" b="1" dirty="0">
                          <a:effectLst/>
                        </a:rPr>
                        <a:t>relationship</a:t>
                      </a:r>
                      <a:r>
                        <a:rPr lang="en-AU" sz="1000" dirty="0">
                          <a:effectLst/>
                        </a:rPr>
                        <a:t> between variables (e.g., "According to F=ma, if I lower the mass, the acceleration increases"). Correctly identifies that gas pressure creates thrust.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Q6:</a:t>
                      </a:r>
                      <a:r>
                        <a:rPr lang="en-AU" sz="1000" dirty="0">
                          <a:effectLst/>
                        </a:rPr>
                        <a:t> Correctly identifies $Speed = \frac{Distance}{Time}$.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Scaffold Check:</a:t>
                      </a:r>
                      <a:r>
                        <a:rPr lang="en-AU" sz="1000" dirty="0">
                          <a:effectLst/>
                        </a:rPr>
                        <a:t> Student uses the physics to justify design choices.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Must use these terms: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F=ma</a:t>
                      </a:r>
                      <a:r>
                        <a:rPr lang="en-AU" sz="1000" dirty="0">
                          <a:effectLst/>
                        </a:rPr>
                        <a:t> (Formula)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Inertia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Action / Reaction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Drag / Aerodynamics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Pressure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Substantial Honesty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Sources are cited (Website name + URL).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AI Declaration:</a:t>
                      </a:r>
                      <a:r>
                        <a:rPr lang="en-AU" sz="1000" dirty="0">
                          <a:effectLst/>
                        </a:rPr>
                        <a:t> Student states "I used AI to check my grammar" or "I used AI to explain the concept."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2815309570"/>
                  </a:ext>
                </a:extLst>
              </a:tr>
              <a:tr h="14938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>
                          <a:effectLst/>
                        </a:rPr>
                        <a:t>7-8</a:t>
                      </a:r>
                      <a:endParaRPr lang="en-AU" sz="1000">
                        <a:effectLst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Excellent Understanding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Q1-5:</a:t>
                      </a:r>
                      <a:r>
                        <a:rPr lang="en-AU" sz="1000" dirty="0">
                          <a:effectLst/>
                        </a:rPr>
                        <a:t> Student provides detailed scientific reasoning. Correctly identifies energy transfer (Kinetic $\to$ Heat/Sound) and theoretical physics (Vacuum = no drag = constant velocity).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Q6:</a:t>
                      </a:r>
                      <a:r>
                        <a:rPr lang="en-AU" sz="1000" dirty="0">
                          <a:effectLst/>
                        </a:rPr>
                        <a:t> Details the tools needed for measurement (light gates or stopwatch + measured track).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Scaffold Check:</a:t>
                      </a:r>
                      <a:r>
                        <a:rPr lang="en-AU" sz="1000" dirty="0">
                          <a:effectLst/>
                        </a:rPr>
                        <a:t> Answers demonstrate high-level applied physics.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Must use these terms: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Kinetic Energy / Potential Energy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Conservation of Energy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Thrust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Vacuum / Gravity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Velocity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000" b="1" dirty="0">
                          <a:effectLst/>
                        </a:rPr>
                        <a:t>Excellent Honesty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Full bibliography included.</a:t>
                      </a:r>
                    </a:p>
                    <a:p>
                      <a:pPr algn="l">
                        <a:buNone/>
                      </a:pPr>
                      <a:r>
                        <a:rPr lang="en-AU" sz="1000" dirty="0">
                          <a:effectLst/>
                        </a:rPr>
                        <a:t>• </a:t>
                      </a:r>
                      <a:r>
                        <a:rPr lang="en-AU" sz="1000" b="1" dirty="0">
                          <a:effectLst/>
                        </a:rPr>
                        <a:t>AI Transparency:</a:t>
                      </a:r>
                      <a:r>
                        <a:rPr lang="en-AU" sz="1000" dirty="0">
                          <a:effectLst/>
                        </a:rPr>
                        <a:t> Student includes the specific prompt used and the original AI output, showing how they modified it.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364599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69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1995</TotalTime>
  <Words>1873</Words>
  <Application>Microsoft Macintosh PowerPoint</Application>
  <PresentationFormat>Widescreen</PresentationFormat>
  <Paragraphs>224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Gill Sans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  <vt:lpstr>Marking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Burton</dc:creator>
  <cp:lastModifiedBy>Matt Burton</cp:lastModifiedBy>
  <cp:revision>28</cp:revision>
  <dcterms:created xsi:type="dcterms:W3CDTF">2024-08-12T06:37:23Z</dcterms:created>
  <dcterms:modified xsi:type="dcterms:W3CDTF">2026-01-20T00:46:41Z</dcterms:modified>
</cp:coreProperties>
</file>