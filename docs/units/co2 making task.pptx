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0" r:id="rId2"/>
    <p:sldId id="281" r:id="rId3"/>
    <p:sldId id="282" r:id="rId4"/>
    <p:sldId id="283" r:id="rId5"/>
    <p:sldId id="284" r:id="rId6"/>
    <p:sldId id="285" r:id="rId7"/>
    <p:sldId id="286" r:id="rId8"/>
    <p:sldId id="287" r:id="rId9"/>
    <p:sldId id="288" r:id="rId10"/>
    <p:sldId id="289" r:id="rId11"/>
    <p:sldId id="273" r:id="rId12"/>
    <p:sldId id="276" r:id="rId13"/>
    <p:sldId id="279"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27"/>
    <p:restoredTop sz="94558"/>
  </p:normalViewPr>
  <p:slideViewPr>
    <p:cSldViewPr snapToGrid="0">
      <p:cViewPr varScale="1">
        <p:scale>
          <a:sx n="102" d="100"/>
          <a:sy n="102" d="100"/>
        </p:scale>
        <p:origin x="192" y="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34B59-DB0F-CC7F-EE5F-A4F7C18468A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AC1544B-D667-634F-3BB4-F832EEF2F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027541A-0C8B-12F4-F3AA-2671972201D1}"/>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5" name="Footer Placeholder 4">
            <a:extLst>
              <a:ext uri="{FF2B5EF4-FFF2-40B4-BE49-F238E27FC236}">
                <a16:creationId xmlns:a16="http://schemas.microsoft.com/office/drawing/2014/main" id="{213716C8-9C3D-66B1-515D-B05203E45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B0F18-3FEB-BD70-1331-F5D79FB128FD}"/>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1984293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B70DD-5D00-7BFE-E51E-F42CBF48389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E666F3-E07A-A070-3F07-5D9F6AE99C4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4111BB8-9D67-BE06-3CCF-207D7D8561AF}"/>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5" name="Footer Placeholder 4">
            <a:extLst>
              <a:ext uri="{FF2B5EF4-FFF2-40B4-BE49-F238E27FC236}">
                <a16:creationId xmlns:a16="http://schemas.microsoft.com/office/drawing/2014/main" id="{828F3D64-7751-F3DE-73E8-E228D8C14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E739D9-58AD-2CD6-13B9-5BD34D15BB73}"/>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97816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BF32C-BFEF-4E18-3E79-64DF5EF3BC6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D1C4F4A-4DCA-D3AB-1FD0-0CE95F0811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3B16CB5-C22A-4A21-5B94-BF631966B71D}"/>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5" name="Footer Placeholder 4">
            <a:extLst>
              <a:ext uri="{FF2B5EF4-FFF2-40B4-BE49-F238E27FC236}">
                <a16:creationId xmlns:a16="http://schemas.microsoft.com/office/drawing/2014/main" id="{351480E1-505C-6EFE-8E42-71D6616816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40E52-152C-38EE-83C8-120DD0BDD0DE}"/>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3478598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5A44-FE51-309D-2D54-842D2573E9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66EEFBA-436B-6FF7-F4EC-3BBA15D5D24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8486EFA-E96A-BF2F-315F-3EE66E92DD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34D2922-85ED-2D49-0B2F-F9FA64F1ED8B}"/>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6" name="Footer Placeholder 5">
            <a:extLst>
              <a:ext uri="{FF2B5EF4-FFF2-40B4-BE49-F238E27FC236}">
                <a16:creationId xmlns:a16="http://schemas.microsoft.com/office/drawing/2014/main" id="{7FA26B79-4819-148A-EEFE-862C6CA2B2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9C6BF-E941-D202-0D92-6564E2A7F381}"/>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1223046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44ED7-25B6-8B7C-F449-CF14DBF992B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46B702D-FBBF-824B-AAB6-593B829BD5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9656F74-679B-76AB-2593-E2BE649B2A7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645CE42-1FC0-9F5C-6E75-46CCB43371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74E708C-E81A-1B94-A9B0-327C32DAD0B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3DE3B21-2686-1B5F-B66B-67EF0CEB5BC7}"/>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8" name="Footer Placeholder 7">
            <a:extLst>
              <a:ext uri="{FF2B5EF4-FFF2-40B4-BE49-F238E27FC236}">
                <a16:creationId xmlns:a16="http://schemas.microsoft.com/office/drawing/2014/main" id="{596104A2-8690-8464-A69E-AAA8975E7E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0899E1-B6DA-8061-F0E0-84356305AB59}"/>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1760567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8624-4566-A133-854D-92DFC0D0B47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3B15D61-1B21-509E-6DD5-230767F67F41}"/>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4" name="Footer Placeholder 3">
            <a:extLst>
              <a:ext uri="{FF2B5EF4-FFF2-40B4-BE49-F238E27FC236}">
                <a16:creationId xmlns:a16="http://schemas.microsoft.com/office/drawing/2014/main" id="{414AA041-B77D-B483-DD83-3BCA7BD879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B00008-A67D-54D9-DE53-096D13033C29}"/>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310521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987653-093C-47BE-899A-91AF294856D7}"/>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3" name="Footer Placeholder 2">
            <a:extLst>
              <a:ext uri="{FF2B5EF4-FFF2-40B4-BE49-F238E27FC236}">
                <a16:creationId xmlns:a16="http://schemas.microsoft.com/office/drawing/2014/main" id="{A96771D3-4846-CEA9-7719-AA2B1E256D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810654-E680-B123-2DB6-76CF2017E4AA}"/>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3403551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1F7A8-1751-F02E-691E-152D49D37E3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61345B1-88AD-1157-E21F-6D1D627C76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D8845E2-541C-F13B-C6DD-63C7825C0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A96C86-55BB-FCD1-4C7F-2AD9A859D953}"/>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6" name="Footer Placeholder 5">
            <a:extLst>
              <a:ext uri="{FF2B5EF4-FFF2-40B4-BE49-F238E27FC236}">
                <a16:creationId xmlns:a16="http://schemas.microsoft.com/office/drawing/2014/main" id="{37409452-5770-C047-94EC-06EB3B9161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B309D4-CB00-AB4F-289B-3D9B4CBDA5F4}"/>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2399261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154D-7642-5CC3-6F04-1076C632EC0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50C1DB1-866A-1D21-5C77-39EBD39D4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6397B7-9F28-DA4F-D065-F8373D9DE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EE742C-D06C-AD57-306C-378151241C62}"/>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6" name="Footer Placeholder 5">
            <a:extLst>
              <a:ext uri="{FF2B5EF4-FFF2-40B4-BE49-F238E27FC236}">
                <a16:creationId xmlns:a16="http://schemas.microsoft.com/office/drawing/2014/main" id="{1A7599ED-5E12-3445-962D-06EF0F2545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10EAC-03C6-C5D6-181A-85F0EBA750C1}"/>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152917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FA3CC-F14A-734B-861D-29D14A48CEC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39B425-5799-B584-2833-374DB69AA91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25F841-4AD5-6440-7BF7-CDE2C29598B9}"/>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5" name="Footer Placeholder 4">
            <a:extLst>
              <a:ext uri="{FF2B5EF4-FFF2-40B4-BE49-F238E27FC236}">
                <a16:creationId xmlns:a16="http://schemas.microsoft.com/office/drawing/2014/main" id="{0A55D6FA-7AC8-6966-4711-2AC237A0DF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3AE453-1914-593E-2D27-A1C25400BA72}"/>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4171742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E82D5C-1431-273B-DFC6-8F638EEA4A7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12CC11A-F79F-1188-15D7-C4B46170176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52D5E3C-B2BE-26DF-C3BE-851D14CD7D96}"/>
              </a:ext>
            </a:extLst>
          </p:cNvPr>
          <p:cNvSpPr>
            <a:spLocks noGrp="1"/>
          </p:cNvSpPr>
          <p:nvPr>
            <p:ph type="dt" sz="half" idx="10"/>
          </p:nvPr>
        </p:nvSpPr>
        <p:spPr/>
        <p:txBody>
          <a:bodyPr/>
          <a:lstStyle/>
          <a:p>
            <a:fld id="{7F92EF4D-F33C-C741-B778-C05936AA794F}" type="datetimeFigureOut">
              <a:rPr lang="en-US" smtClean="0"/>
              <a:t>12/4/24</a:t>
            </a:fld>
            <a:endParaRPr lang="en-US"/>
          </a:p>
        </p:txBody>
      </p:sp>
      <p:sp>
        <p:nvSpPr>
          <p:cNvPr id="5" name="Footer Placeholder 4">
            <a:extLst>
              <a:ext uri="{FF2B5EF4-FFF2-40B4-BE49-F238E27FC236}">
                <a16:creationId xmlns:a16="http://schemas.microsoft.com/office/drawing/2014/main" id="{6794B02B-9FDE-7639-526E-AD83DAC0F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3BA28-4198-6ACB-2454-551BF2AEA57D}"/>
              </a:ext>
            </a:extLst>
          </p:cNvPr>
          <p:cNvSpPr>
            <a:spLocks noGrp="1"/>
          </p:cNvSpPr>
          <p:nvPr>
            <p:ph type="sldNum" sz="quarter" idx="12"/>
          </p:nvPr>
        </p:nvSpPr>
        <p:spPr/>
        <p:txBody>
          <a:bodyPr/>
          <a:lstStyle/>
          <a:p>
            <a:fld id="{B6B46E65-46BD-7F46-9BE8-B84E0F2ED4D0}" type="slidenum">
              <a:rPr lang="en-US" smtClean="0"/>
              <a:t>‹#›</a:t>
            </a:fld>
            <a:endParaRPr lang="en-US"/>
          </a:p>
        </p:txBody>
      </p:sp>
    </p:spTree>
    <p:extLst>
      <p:ext uri="{BB962C8B-B14F-4D97-AF65-F5344CB8AC3E}">
        <p14:creationId xmlns:p14="http://schemas.microsoft.com/office/powerpoint/2010/main" val="3179136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1D731-05A7-8EA4-8ADB-B4501BE6C7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A0A790-F423-20BB-96AB-049621B0E2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0B5947-30F4-366A-7A2B-2CB962D22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92EF4D-F33C-C741-B778-C05936AA794F}" type="datetimeFigureOut">
              <a:rPr lang="en-US" smtClean="0"/>
              <a:t>12/4/24</a:t>
            </a:fld>
            <a:endParaRPr lang="en-US"/>
          </a:p>
        </p:txBody>
      </p:sp>
      <p:sp>
        <p:nvSpPr>
          <p:cNvPr id="5" name="Footer Placeholder 4">
            <a:extLst>
              <a:ext uri="{FF2B5EF4-FFF2-40B4-BE49-F238E27FC236}">
                <a16:creationId xmlns:a16="http://schemas.microsoft.com/office/drawing/2014/main" id="{4A680EEA-B537-1B2C-02FE-2013B82922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1AE07D-775E-08E8-642B-7FC2C79B56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B46E65-46BD-7F46-9BE8-B84E0F2ED4D0}" type="slidenum">
              <a:rPr lang="en-US" smtClean="0"/>
              <a:t>‹#›</a:t>
            </a:fld>
            <a:endParaRPr lang="en-US"/>
          </a:p>
        </p:txBody>
      </p:sp>
    </p:spTree>
    <p:extLst>
      <p:ext uri="{BB962C8B-B14F-4D97-AF65-F5344CB8AC3E}">
        <p14:creationId xmlns:p14="http://schemas.microsoft.com/office/powerpoint/2010/main" val="1113736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F886-C2B3-BB55-8903-49D1F940319C}"/>
              </a:ext>
            </a:extLst>
          </p:cNvPr>
          <p:cNvSpPr>
            <a:spLocks noGrp="1"/>
          </p:cNvSpPr>
          <p:nvPr>
            <p:ph type="title"/>
          </p:nvPr>
        </p:nvSpPr>
        <p:spPr/>
        <p:txBody>
          <a:bodyPr>
            <a:normAutofit fontScale="90000"/>
          </a:bodyPr>
          <a:lstStyle/>
          <a:p>
            <a:r>
              <a:rPr lang="en-AU" i="1" dirty="0">
                <a:effectLst/>
                <a:latin typeface="Helvetica" pitchFamily="2" charset="0"/>
              </a:rPr>
              <a:t>TRANSFERRING DESIGN TO BODY BLANK</a:t>
            </a:r>
            <a:br>
              <a:rPr lang="en-AU" dirty="0">
                <a:effectLst/>
                <a:latin typeface="Helvetica" pitchFamily="2" charset="0"/>
              </a:rPr>
            </a:br>
            <a:endParaRPr lang="en-US" dirty="0"/>
          </a:p>
        </p:txBody>
      </p:sp>
      <p:sp>
        <p:nvSpPr>
          <p:cNvPr id="7" name="Content Placeholder 6">
            <a:extLst>
              <a:ext uri="{FF2B5EF4-FFF2-40B4-BE49-F238E27FC236}">
                <a16:creationId xmlns:a16="http://schemas.microsoft.com/office/drawing/2014/main" id="{E98A6A64-58D2-8273-FB1D-B1DA35052CF4}"/>
              </a:ext>
            </a:extLst>
          </p:cNvPr>
          <p:cNvSpPr>
            <a:spLocks noGrp="1"/>
          </p:cNvSpPr>
          <p:nvPr>
            <p:ph idx="1"/>
          </p:nvPr>
        </p:nvSpPr>
        <p:spPr>
          <a:xfrm>
            <a:off x="1019179" y="2874787"/>
            <a:ext cx="10515600" cy="4351338"/>
          </a:xfrm>
        </p:spPr>
        <p:txBody>
          <a:bodyPr/>
          <a:lstStyle/>
          <a:p>
            <a:pPr marL="0" indent="0">
              <a:buNone/>
            </a:pPr>
            <a:r>
              <a:rPr lang="en-AU" i="1" dirty="0">
                <a:effectLst/>
                <a:latin typeface="Helvetica" pitchFamily="2" charset="0"/>
              </a:rPr>
              <a:t>Cut out the top and side (profile) views from a copy of your working drawing. Then, carefully trace the</a:t>
            </a:r>
            <a:r>
              <a:rPr lang="en-AU" dirty="0">
                <a:latin typeface="Helvetica" pitchFamily="2" charset="0"/>
              </a:rPr>
              <a:t> </a:t>
            </a:r>
            <a:r>
              <a:rPr lang="en-AU" i="1" dirty="0">
                <a:effectLst/>
                <a:latin typeface="Helvetica" pitchFamily="2" charset="0"/>
              </a:rPr>
              <a:t>outline of the views onto the wood blank.</a:t>
            </a:r>
            <a:endParaRPr lang="en-AU" dirty="0">
              <a:effectLst/>
              <a:latin typeface="Helvetica" pitchFamily="2" charset="0"/>
            </a:endParaRPr>
          </a:p>
          <a:p>
            <a:pPr marL="0" indent="0">
              <a:buNone/>
            </a:pPr>
            <a:endParaRPr lang="en-US" dirty="0"/>
          </a:p>
        </p:txBody>
      </p:sp>
    </p:spTree>
    <p:extLst>
      <p:ext uri="{BB962C8B-B14F-4D97-AF65-F5344CB8AC3E}">
        <p14:creationId xmlns:p14="http://schemas.microsoft.com/office/powerpoint/2010/main" val="249041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BF75-2142-9AC8-0A81-30B314B94928}"/>
              </a:ext>
            </a:extLst>
          </p:cNvPr>
          <p:cNvSpPr>
            <a:spLocks noGrp="1"/>
          </p:cNvSpPr>
          <p:nvPr>
            <p:ph type="title"/>
          </p:nvPr>
        </p:nvSpPr>
        <p:spPr/>
        <p:txBody>
          <a:bodyPr/>
          <a:lstStyle/>
          <a:p>
            <a:r>
              <a:rPr lang="en-AU" i="1" dirty="0">
                <a:effectLst/>
                <a:latin typeface="Helvetica" pitchFamily="2" charset="0"/>
              </a:rPr>
              <a:t>DRILLING AXLE HOLES</a:t>
            </a:r>
            <a:br>
              <a:rPr lang="en-AU"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243896E2-D8AE-B0A4-E008-CA3847F43420}"/>
              </a:ext>
            </a:extLst>
          </p:cNvPr>
          <p:cNvSpPr>
            <a:spLocks noGrp="1"/>
          </p:cNvSpPr>
          <p:nvPr>
            <p:ph idx="1"/>
          </p:nvPr>
        </p:nvSpPr>
        <p:spPr>
          <a:xfrm>
            <a:off x="649012" y="1142453"/>
            <a:ext cx="11175125" cy="4351338"/>
          </a:xfrm>
        </p:spPr>
        <p:txBody>
          <a:bodyPr>
            <a:normAutofit/>
          </a:bodyPr>
          <a:lstStyle/>
          <a:p>
            <a:pPr marL="0" indent="0">
              <a:buNone/>
            </a:pPr>
            <a:r>
              <a:rPr lang="en-AU" sz="1800" i="1" dirty="0">
                <a:effectLst/>
                <a:latin typeface="Helvetica" pitchFamily="2" charset="0"/>
              </a:rPr>
              <a:t>1. Transfer the axle hole locations onto the blank by using a sharp pointed tool such as an awl to</a:t>
            </a:r>
            <a:endParaRPr lang="en-AU" sz="1800" dirty="0">
              <a:effectLst/>
              <a:latin typeface="Helvetica" pitchFamily="2" charset="0"/>
            </a:endParaRPr>
          </a:p>
          <a:p>
            <a:pPr marL="0" indent="0">
              <a:buNone/>
            </a:pPr>
            <a:r>
              <a:rPr lang="en-AU" sz="1800" i="1" dirty="0">
                <a:effectLst/>
                <a:latin typeface="Helvetica" pitchFamily="2" charset="0"/>
              </a:rPr>
              <a:t>puncture through the template and into the wood blank.</a:t>
            </a:r>
          </a:p>
          <a:p>
            <a:pPr marL="0" indent="0">
              <a:buNone/>
            </a:pPr>
            <a:r>
              <a:rPr lang="en-AU" sz="1800" i="1" dirty="0">
                <a:effectLst/>
                <a:latin typeface="Helvetica" pitchFamily="2" charset="0"/>
              </a:rPr>
              <a:t>2. Lay the car blank on its side and drill 3mm axle pilot holes. The holes should be drilled</a:t>
            </a:r>
            <a:endParaRPr lang="en-AU" sz="1800" dirty="0">
              <a:effectLst/>
              <a:latin typeface="Helvetica" pitchFamily="2" charset="0"/>
            </a:endParaRPr>
          </a:p>
          <a:p>
            <a:pPr marL="0" indent="0">
              <a:buNone/>
            </a:pPr>
            <a:r>
              <a:rPr lang="en-AU" sz="1800" i="1" dirty="0">
                <a:effectLst/>
                <a:latin typeface="Helvetica" pitchFamily="2" charset="0"/>
              </a:rPr>
              <a:t>perpendicular to the car’s longitudinal axis in order for the car to roll freely and straight down the</a:t>
            </a:r>
            <a:endParaRPr lang="en-AU" sz="1800" dirty="0">
              <a:effectLst/>
              <a:latin typeface="Helvetica" pitchFamily="2" charset="0"/>
            </a:endParaRPr>
          </a:p>
          <a:p>
            <a:pPr marL="0" indent="0">
              <a:buNone/>
            </a:pPr>
            <a:r>
              <a:rPr lang="en-AU" sz="1800" i="1" dirty="0">
                <a:effectLst/>
                <a:latin typeface="Helvetica" pitchFamily="2" charset="0"/>
              </a:rPr>
              <a:t>track. A drill press is highly recommended because it makes drilling perpendicular holes a cinch.</a:t>
            </a:r>
            <a:endParaRPr lang="en-AU" sz="1800" dirty="0">
              <a:effectLst/>
              <a:latin typeface="Helvetica" pitchFamily="2" charset="0"/>
            </a:endParaRPr>
          </a:p>
          <a:p>
            <a:pPr marL="0" indent="0">
              <a:buNone/>
            </a:pPr>
            <a:r>
              <a:rPr lang="en-AU" sz="1800" i="1" dirty="0">
                <a:effectLst/>
                <a:latin typeface="Helvetica" pitchFamily="2" charset="0"/>
              </a:rPr>
              <a:t>3. These pilot holes can be enlarged to the size you need later.</a:t>
            </a:r>
            <a:endParaRPr lang="en-AU" sz="1800" dirty="0">
              <a:effectLst/>
              <a:latin typeface="Helvetica" pitchFamily="2" charset="0"/>
            </a:endParaRPr>
          </a:p>
          <a:p>
            <a:pPr marL="0" indent="0">
              <a:buNone/>
            </a:pPr>
            <a:endParaRPr lang="en-AU" sz="1800" dirty="0">
              <a:effectLst/>
              <a:latin typeface="Helvetica" pitchFamily="2" charset="0"/>
            </a:endParaRPr>
          </a:p>
          <a:p>
            <a:pPr marL="0" indent="0">
              <a:buNone/>
            </a:pPr>
            <a:endParaRPr lang="en-US" sz="1800" dirty="0"/>
          </a:p>
        </p:txBody>
      </p:sp>
      <p:pic>
        <p:nvPicPr>
          <p:cNvPr id="4" name="Content Placeholder 4" descr="Close-up of hands using a tool&#10;&#10;Description automatically generated">
            <a:extLst>
              <a:ext uri="{FF2B5EF4-FFF2-40B4-BE49-F238E27FC236}">
                <a16:creationId xmlns:a16="http://schemas.microsoft.com/office/drawing/2014/main" id="{5A1523BA-9682-32B0-778F-ECA283A64472}"/>
              </a:ext>
            </a:extLst>
          </p:cNvPr>
          <p:cNvPicPr>
            <a:picLocks noChangeAspect="1"/>
          </p:cNvPicPr>
          <p:nvPr/>
        </p:nvPicPr>
        <p:blipFill>
          <a:blip r:embed="rId2"/>
          <a:stretch>
            <a:fillRect/>
          </a:stretch>
        </p:blipFill>
        <p:spPr>
          <a:xfrm>
            <a:off x="2207796" y="3429000"/>
            <a:ext cx="8737600" cy="3238500"/>
          </a:xfrm>
          <a:prstGeom prst="rect">
            <a:avLst/>
          </a:prstGeom>
        </p:spPr>
      </p:pic>
    </p:spTree>
    <p:extLst>
      <p:ext uri="{BB962C8B-B14F-4D97-AF65-F5344CB8AC3E}">
        <p14:creationId xmlns:p14="http://schemas.microsoft.com/office/powerpoint/2010/main" val="3968011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38A4B-3A30-2803-D9B0-39D47696A97A}"/>
              </a:ext>
            </a:extLst>
          </p:cNvPr>
          <p:cNvSpPr>
            <a:spLocks noGrp="1"/>
          </p:cNvSpPr>
          <p:nvPr>
            <p:ph type="title"/>
          </p:nvPr>
        </p:nvSpPr>
        <p:spPr/>
        <p:txBody>
          <a:bodyPr/>
          <a:lstStyle/>
          <a:p>
            <a:r>
              <a:rPr lang="en-AU" i="1" dirty="0">
                <a:effectLst/>
                <a:latin typeface="Helvetica" pitchFamily="2" charset="0"/>
              </a:rPr>
              <a:t>ROUGH SHAPING THE CAR BODY</a:t>
            </a:r>
            <a:br>
              <a:rPr lang="en-AU" dirty="0">
                <a:effectLst/>
                <a:latin typeface="Helvetica" pitchFamily="2" charset="0"/>
              </a:rPr>
            </a:br>
            <a:endParaRPr lang="en-US" dirty="0"/>
          </a:p>
        </p:txBody>
      </p:sp>
      <p:sp>
        <p:nvSpPr>
          <p:cNvPr id="7" name="Content Placeholder 6">
            <a:extLst>
              <a:ext uri="{FF2B5EF4-FFF2-40B4-BE49-F238E27FC236}">
                <a16:creationId xmlns:a16="http://schemas.microsoft.com/office/drawing/2014/main" id="{39EB3B62-5AC5-8609-7E04-1EFFF52E9C6B}"/>
              </a:ext>
            </a:extLst>
          </p:cNvPr>
          <p:cNvSpPr>
            <a:spLocks noGrp="1"/>
          </p:cNvSpPr>
          <p:nvPr>
            <p:ph idx="1"/>
          </p:nvPr>
        </p:nvSpPr>
        <p:spPr>
          <a:xfrm>
            <a:off x="712940" y="1525000"/>
            <a:ext cx="11224364" cy="4351338"/>
          </a:xfrm>
        </p:spPr>
        <p:txBody>
          <a:bodyPr>
            <a:normAutofit/>
          </a:bodyPr>
          <a:lstStyle/>
          <a:p>
            <a:pPr marL="0" indent="0">
              <a:buNone/>
            </a:pPr>
            <a:r>
              <a:rPr lang="en-AU" sz="1600" i="1" dirty="0">
                <a:effectLst/>
                <a:latin typeface="Helvetica" pitchFamily="2" charset="0"/>
              </a:rPr>
              <a:t>1. Use a band saw to roughly shape the blank:</a:t>
            </a:r>
            <a:endParaRPr lang="en-AU" sz="1600" dirty="0">
              <a:effectLst/>
              <a:latin typeface="Helvetica" pitchFamily="2" charset="0"/>
            </a:endParaRPr>
          </a:p>
          <a:p>
            <a:pPr marL="0" indent="0">
              <a:buNone/>
            </a:pPr>
            <a:r>
              <a:rPr lang="en-AU" sz="1600" i="1" dirty="0">
                <a:effectLst/>
                <a:latin typeface="Helvetica" pitchFamily="2" charset="0"/>
              </a:rPr>
              <a:t>a. Turn the blank on its side and cut out</a:t>
            </a:r>
            <a:r>
              <a:rPr lang="en-AU" sz="1600" dirty="0">
                <a:latin typeface="Helvetica" pitchFamily="2" charset="0"/>
              </a:rPr>
              <a:t> </a:t>
            </a:r>
            <a:r>
              <a:rPr lang="en-AU" sz="1600" i="1" dirty="0">
                <a:effectLst/>
                <a:latin typeface="Helvetica" pitchFamily="2" charset="0"/>
              </a:rPr>
              <a:t>the profile view first.</a:t>
            </a:r>
            <a:endParaRPr lang="en-AU" sz="1600" dirty="0">
              <a:effectLst/>
              <a:latin typeface="Helvetica" pitchFamily="2" charset="0"/>
            </a:endParaRPr>
          </a:p>
          <a:p>
            <a:pPr marL="0" indent="0">
              <a:buNone/>
            </a:pPr>
            <a:r>
              <a:rPr lang="en-AU" sz="1600" i="1" dirty="0">
                <a:effectLst/>
                <a:latin typeface="Helvetica" pitchFamily="2" charset="0"/>
              </a:rPr>
              <a:t>b. Fit the waste pieces and working piece</a:t>
            </a:r>
            <a:r>
              <a:rPr lang="en-AU" sz="1600" dirty="0">
                <a:latin typeface="Helvetica" pitchFamily="2" charset="0"/>
              </a:rPr>
              <a:t> </a:t>
            </a:r>
            <a:r>
              <a:rPr lang="en-AU" sz="1600" i="1" dirty="0">
                <a:effectLst/>
                <a:latin typeface="Helvetica" pitchFamily="2" charset="0"/>
              </a:rPr>
              <a:t>back together and secure them by</a:t>
            </a:r>
            <a:r>
              <a:rPr lang="en-AU" sz="1600" dirty="0">
                <a:latin typeface="Helvetica" pitchFamily="2" charset="0"/>
              </a:rPr>
              <a:t> </a:t>
            </a:r>
            <a:r>
              <a:rPr lang="en-AU" sz="1600" i="1" dirty="0">
                <a:effectLst/>
                <a:latin typeface="Helvetica" pitchFamily="2" charset="0"/>
              </a:rPr>
              <a:t>wrapping two bands of masking tape</a:t>
            </a:r>
            <a:endParaRPr lang="en-AU" sz="1600" dirty="0">
              <a:effectLst/>
              <a:latin typeface="Helvetica" pitchFamily="2" charset="0"/>
            </a:endParaRPr>
          </a:p>
          <a:p>
            <a:pPr marL="0" indent="0">
              <a:buNone/>
            </a:pPr>
            <a:r>
              <a:rPr lang="en-AU" sz="1600" i="1" dirty="0">
                <a:effectLst/>
                <a:latin typeface="Helvetica" pitchFamily="2" charset="0"/>
              </a:rPr>
              <a:t>around the assembly.</a:t>
            </a:r>
            <a:endParaRPr lang="en-AU" sz="1600" dirty="0">
              <a:effectLst/>
              <a:latin typeface="Helvetica" pitchFamily="2" charset="0"/>
            </a:endParaRPr>
          </a:p>
          <a:p>
            <a:pPr marL="0" indent="0">
              <a:buNone/>
            </a:pPr>
            <a:r>
              <a:rPr lang="en-AU" sz="1600" i="1" dirty="0">
                <a:effectLst/>
                <a:latin typeface="Helvetica" pitchFamily="2" charset="0"/>
              </a:rPr>
              <a:t>c. Set the blank assembly upright and cut</a:t>
            </a:r>
            <a:r>
              <a:rPr lang="en-AU" sz="1600" dirty="0">
                <a:latin typeface="Helvetica" pitchFamily="2" charset="0"/>
              </a:rPr>
              <a:t> </a:t>
            </a:r>
            <a:r>
              <a:rPr lang="en-AU" sz="1600" i="1" dirty="0">
                <a:effectLst/>
                <a:latin typeface="Helvetica" pitchFamily="2" charset="0"/>
              </a:rPr>
              <a:t>out the top view.</a:t>
            </a:r>
            <a:endParaRPr lang="en-AU" sz="1600" dirty="0">
              <a:effectLst/>
              <a:latin typeface="Helvetica" pitchFamily="2" charset="0"/>
            </a:endParaRPr>
          </a:p>
          <a:p>
            <a:pPr marL="0" indent="0">
              <a:buNone/>
            </a:pPr>
            <a:r>
              <a:rPr lang="en-AU" sz="1600" i="1" dirty="0">
                <a:effectLst/>
                <a:latin typeface="Helvetica" pitchFamily="2" charset="0"/>
              </a:rPr>
              <a:t>d. Remove the masking tape and discard all the waste pieces.</a:t>
            </a:r>
            <a:endParaRPr lang="en-AU" sz="1600" dirty="0">
              <a:effectLst/>
              <a:latin typeface="Helvetica" pitchFamily="2" charset="0"/>
            </a:endParaRPr>
          </a:p>
          <a:p>
            <a:pPr marL="0" indent="0">
              <a:buNone/>
            </a:pPr>
            <a:endParaRPr lang="en-US" sz="1600" dirty="0"/>
          </a:p>
        </p:txBody>
      </p:sp>
      <p:pic>
        <p:nvPicPr>
          <p:cNvPr id="9" name="Picture 8" descr="A wooden object with text above it&#10;&#10;Description automatically generated">
            <a:extLst>
              <a:ext uri="{FF2B5EF4-FFF2-40B4-BE49-F238E27FC236}">
                <a16:creationId xmlns:a16="http://schemas.microsoft.com/office/drawing/2014/main" id="{5A35A233-4267-4F8D-FC4D-7DB0516E71A7}"/>
              </a:ext>
            </a:extLst>
          </p:cNvPr>
          <p:cNvPicPr>
            <a:picLocks noChangeAspect="1"/>
          </p:cNvPicPr>
          <p:nvPr/>
        </p:nvPicPr>
        <p:blipFill>
          <a:blip r:embed="rId2"/>
          <a:stretch>
            <a:fillRect/>
          </a:stretch>
        </p:blipFill>
        <p:spPr>
          <a:xfrm>
            <a:off x="3332217" y="4215333"/>
            <a:ext cx="7772400" cy="2235334"/>
          </a:xfrm>
          <a:prstGeom prst="rect">
            <a:avLst/>
          </a:prstGeom>
        </p:spPr>
      </p:pic>
    </p:spTree>
    <p:extLst>
      <p:ext uri="{BB962C8B-B14F-4D97-AF65-F5344CB8AC3E}">
        <p14:creationId xmlns:p14="http://schemas.microsoft.com/office/powerpoint/2010/main" val="3482323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6860B6-278A-1809-EA58-B0710E35C153}"/>
              </a:ext>
            </a:extLst>
          </p:cNvPr>
          <p:cNvSpPr>
            <a:spLocks noGrp="1"/>
          </p:cNvSpPr>
          <p:nvPr>
            <p:ph idx="1"/>
          </p:nvPr>
        </p:nvSpPr>
        <p:spPr>
          <a:xfrm>
            <a:off x="587679" y="335028"/>
            <a:ext cx="10773428" cy="1393564"/>
          </a:xfrm>
        </p:spPr>
        <p:txBody>
          <a:bodyPr/>
          <a:lstStyle/>
          <a:p>
            <a:pPr marL="0" indent="0">
              <a:buNone/>
            </a:pPr>
            <a:r>
              <a:rPr lang="en-AU" i="1" dirty="0">
                <a:effectLst/>
                <a:latin typeface="Helvetica" pitchFamily="2" charset="0"/>
              </a:rPr>
              <a:t>2. Smooth the corners of your car body. Use a bench-mounted sander, sharp knife, wood rasp, files,</a:t>
            </a:r>
            <a:r>
              <a:rPr lang="en-AU" dirty="0">
                <a:latin typeface="Helvetica" pitchFamily="2" charset="0"/>
              </a:rPr>
              <a:t> </a:t>
            </a:r>
            <a:r>
              <a:rPr lang="en-AU" i="1" dirty="0">
                <a:effectLst/>
                <a:latin typeface="Helvetica" pitchFamily="2" charset="0"/>
              </a:rPr>
              <a:t>or rough sandpaper (80 grit) to smooth the car to its basic rounded shape.</a:t>
            </a:r>
            <a:endParaRPr lang="en-AU" dirty="0">
              <a:effectLst/>
              <a:latin typeface="Helvetica" pitchFamily="2" charset="0"/>
            </a:endParaRPr>
          </a:p>
          <a:p>
            <a:pPr marL="0" indent="0">
              <a:buNone/>
            </a:pPr>
            <a:endParaRPr lang="en-US" dirty="0"/>
          </a:p>
        </p:txBody>
      </p:sp>
      <p:pic>
        <p:nvPicPr>
          <p:cNvPr id="5" name="Picture 4" descr="Close-up of hands using a wood spoon&#10;&#10;Description automatically generated">
            <a:extLst>
              <a:ext uri="{FF2B5EF4-FFF2-40B4-BE49-F238E27FC236}">
                <a16:creationId xmlns:a16="http://schemas.microsoft.com/office/drawing/2014/main" id="{C0E4700A-9573-ED3E-4CBB-766287E32E70}"/>
              </a:ext>
            </a:extLst>
          </p:cNvPr>
          <p:cNvPicPr>
            <a:picLocks noChangeAspect="1"/>
          </p:cNvPicPr>
          <p:nvPr/>
        </p:nvPicPr>
        <p:blipFill>
          <a:blip r:embed="rId2"/>
          <a:stretch>
            <a:fillRect/>
          </a:stretch>
        </p:blipFill>
        <p:spPr>
          <a:xfrm>
            <a:off x="2209800" y="1728592"/>
            <a:ext cx="7772400" cy="4446709"/>
          </a:xfrm>
          <a:prstGeom prst="rect">
            <a:avLst/>
          </a:prstGeom>
        </p:spPr>
      </p:pic>
    </p:spTree>
    <p:extLst>
      <p:ext uri="{BB962C8B-B14F-4D97-AF65-F5344CB8AC3E}">
        <p14:creationId xmlns:p14="http://schemas.microsoft.com/office/powerpoint/2010/main" val="4176184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301CB-B9B7-D761-72D1-B9C5C6F5E3A7}"/>
              </a:ext>
            </a:extLst>
          </p:cNvPr>
          <p:cNvSpPr>
            <a:spLocks noGrp="1"/>
          </p:cNvSpPr>
          <p:nvPr>
            <p:ph idx="1"/>
          </p:nvPr>
        </p:nvSpPr>
        <p:spPr>
          <a:xfrm>
            <a:off x="838200" y="753569"/>
            <a:ext cx="10515600" cy="4351338"/>
          </a:xfrm>
        </p:spPr>
        <p:txBody>
          <a:bodyPr>
            <a:normAutofit/>
          </a:bodyPr>
          <a:lstStyle/>
          <a:p>
            <a:pPr marL="0" indent="0">
              <a:buNone/>
            </a:pPr>
            <a:r>
              <a:rPr lang="en-AU" sz="2000" i="1" dirty="0">
                <a:effectLst/>
                <a:latin typeface="Helvetica" pitchFamily="2" charset="0"/>
              </a:rPr>
              <a:t>3. Periodically check your car against the spec sheet (especially weight) to make sure the car is still within tolerances. When weighing your car, put the wheels, axles, washers, screw eyes, and any</a:t>
            </a:r>
            <a:r>
              <a:rPr lang="en-AU" sz="2000" dirty="0">
                <a:latin typeface="Helvetica" pitchFamily="2" charset="0"/>
              </a:rPr>
              <a:t> </a:t>
            </a:r>
            <a:r>
              <a:rPr lang="en-AU" sz="2000" i="1" dirty="0">
                <a:effectLst/>
                <a:latin typeface="Helvetica" pitchFamily="2" charset="0"/>
              </a:rPr>
              <a:t>other necessary hardware on the scale along with the body. Allow for the weight of paint coats too.</a:t>
            </a:r>
          </a:p>
          <a:p>
            <a:pPr marL="0" indent="0">
              <a:buNone/>
            </a:pPr>
            <a:endParaRPr lang="en-AU" sz="2000" dirty="0">
              <a:effectLst/>
              <a:latin typeface="Helvetica" pitchFamily="2" charset="0"/>
            </a:endParaRPr>
          </a:p>
          <a:p>
            <a:pPr marL="0" indent="0">
              <a:buNone/>
            </a:pPr>
            <a:r>
              <a:rPr lang="en-AU" sz="2000" i="1" dirty="0">
                <a:effectLst/>
                <a:latin typeface="Helvetica" pitchFamily="2" charset="0"/>
              </a:rPr>
              <a:t>If your design calls for a hollowed-out body, a high-speed rotary multi-tool works nicely. A variety of milling and sanding bits are helpful for making cavities in the car body. When using power tools to shape the car body, go slowly and cautiously. It’s very easy to remove too much wood and ruin your car!</a:t>
            </a:r>
            <a:endParaRPr lang="en-AU" sz="2000" dirty="0">
              <a:effectLst/>
              <a:latin typeface="Helvetica" pitchFamily="2" charset="0"/>
            </a:endParaRPr>
          </a:p>
          <a:p>
            <a:pPr marL="0" indent="0">
              <a:buNone/>
            </a:pPr>
            <a:endParaRPr lang="en-US" sz="2000" dirty="0"/>
          </a:p>
        </p:txBody>
      </p:sp>
    </p:spTree>
    <p:extLst>
      <p:ext uri="{BB962C8B-B14F-4D97-AF65-F5344CB8AC3E}">
        <p14:creationId xmlns:p14="http://schemas.microsoft.com/office/powerpoint/2010/main" val="2061820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1C059-8E9E-E021-5F3F-8A44658D1173}"/>
              </a:ext>
            </a:extLst>
          </p:cNvPr>
          <p:cNvSpPr>
            <a:spLocks noGrp="1"/>
          </p:cNvSpPr>
          <p:nvPr>
            <p:ph type="title"/>
          </p:nvPr>
        </p:nvSpPr>
        <p:spPr/>
        <p:txBody>
          <a:bodyPr/>
          <a:lstStyle/>
          <a:p>
            <a:r>
              <a:rPr lang="en-AU" i="1" dirty="0">
                <a:effectLst/>
                <a:latin typeface="Helvetica" pitchFamily="2" charset="0"/>
              </a:rPr>
              <a:t>FINE SHAPING THE CAR BODY</a:t>
            </a:r>
            <a:br>
              <a:rPr lang="en-AU"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0CC0B49E-33FE-1AFA-3A50-29822DBEB363}"/>
              </a:ext>
            </a:extLst>
          </p:cNvPr>
          <p:cNvSpPr>
            <a:spLocks noGrp="1"/>
          </p:cNvSpPr>
          <p:nvPr>
            <p:ph idx="1"/>
          </p:nvPr>
        </p:nvSpPr>
        <p:spPr>
          <a:xfrm>
            <a:off x="480847" y="1468272"/>
            <a:ext cx="11374821" cy="4501603"/>
          </a:xfrm>
        </p:spPr>
        <p:txBody>
          <a:bodyPr>
            <a:normAutofit/>
          </a:bodyPr>
          <a:lstStyle/>
          <a:p>
            <a:pPr marL="0" indent="0">
              <a:buNone/>
            </a:pPr>
            <a:r>
              <a:rPr lang="en-AU" i="1" dirty="0">
                <a:effectLst/>
                <a:latin typeface="Helvetica" pitchFamily="2" charset="0"/>
              </a:rPr>
              <a:t>At this point, your car has assumed its basic shape. Now you’re at the stage that separates the really fine cars from the mediocre cars. Extra time and effort spent during the fine shaping, or pre-painting, stage</a:t>
            </a:r>
            <a:r>
              <a:rPr lang="en-AU" dirty="0">
                <a:latin typeface="Helvetica" pitchFamily="2" charset="0"/>
              </a:rPr>
              <a:t> </a:t>
            </a:r>
            <a:r>
              <a:rPr lang="en-AU" i="1" dirty="0">
                <a:effectLst/>
                <a:latin typeface="Helvetica" pitchFamily="2" charset="0"/>
              </a:rPr>
              <a:t>have a huge payoff in the kerbside appeal of the final product.</a:t>
            </a:r>
            <a:endParaRPr lang="en-AU" dirty="0">
              <a:effectLst/>
              <a:latin typeface="Helvetica" pitchFamily="2" charset="0"/>
            </a:endParaRPr>
          </a:p>
          <a:p>
            <a:pPr marL="0" indent="0">
              <a:buNone/>
            </a:pPr>
            <a:r>
              <a:rPr lang="en-AU" i="1" dirty="0">
                <a:effectLst/>
                <a:latin typeface="Helvetica" pitchFamily="2" charset="0"/>
              </a:rPr>
              <a:t>Use sandpaper to remove unwanted bumps and irregularities from the body. Use progressively finer grit</a:t>
            </a:r>
            <a:r>
              <a:rPr lang="en-AU" dirty="0">
                <a:latin typeface="Helvetica" pitchFamily="2" charset="0"/>
              </a:rPr>
              <a:t> </a:t>
            </a:r>
            <a:r>
              <a:rPr lang="en-AU" i="1" dirty="0">
                <a:effectLst/>
                <a:latin typeface="Helvetica" pitchFamily="2" charset="0"/>
              </a:rPr>
              <a:t>paper as you go. For example, you might start with 80-grit paper (very course, removes a lot of material)</a:t>
            </a:r>
            <a:r>
              <a:rPr lang="en-AU" dirty="0">
                <a:latin typeface="Helvetica" pitchFamily="2" charset="0"/>
              </a:rPr>
              <a:t> </a:t>
            </a:r>
            <a:r>
              <a:rPr lang="en-AU" i="1" dirty="0">
                <a:effectLst/>
                <a:latin typeface="Helvetica" pitchFamily="2" charset="0"/>
              </a:rPr>
              <a:t>and progress to 220-grit (fine paper for smoothing surfaces).</a:t>
            </a:r>
            <a:endParaRPr lang="en-AU" dirty="0">
              <a:effectLst/>
              <a:latin typeface="Helvetica" pitchFamily="2" charset="0"/>
            </a:endParaRPr>
          </a:p>
          <a:p>
            <a:pPr marL="0" indent="0">
              <a:buNone/>
            </a:pPr>
            <a:endParaRPr lang="en-US" dirty="0"/>
          </a:p>
        </p:txBody>
      </p:sp>
      <p:pic>
        <p:nvPicPr>
          <p:cNvPr id="5" name="Picture 4" descr="A close-up of a person&#10;&#10;Description automatically generated">
            <a:extLst>
              <a:ext uri="{FF2B5EF4-FFF2-40B4-BE49-F238E27FC236}">
                <a16:creationId xmlns:a16="http://schemas.microsoft.com/office/drawing/2014/main" id="{DB0BB1E2-CA4A-C0DD-4BD3-D30E1117F86B}"/>
              </a:ext>
            </a:extLst>
          </p:cNvPr>
          <p:cNvPicPr>
            <a:picLocks noChangeAspect="1"/>
          </p:cNvPicPr>
          <p:nvPr/>
        </p:nvPicPr>
        <p:blipFill>
          <a:blip r:embed="rId2"/>
          <a:stretch>
            <a:fillRect/>
          </a:stretch>
        </p:blipFill>
        <p:spPr>
          <a:xfrm>
            <a:off x="2052181" y="4748975"/>
            <a:ext cx="7772400" cy="1992085"/>
          </a:xfrm>
          <a:prstGeom prst="rect">
            <a:avLst/>
          </a:prstGeom>
        </p:spPr>
      </p:pic>
    </p:spTree>
    <p:extLst>
      <p:ext uri="{BB962C8B-B14F-4D97-AF65-F5344CB8AC3E}">
        <p14:creationId xmlns:p14="http://schemas.microsoft.com/office/powerpoint/2010/main" val="2026385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F641F-F6C9-2A15-4825-D4D02BB3D1B8}"/>
              </a:ext>
            </a:extLst>
          </p:cNvPr>
          <p:cNvSpPr>
            <a:spLocks noGrp="1"/>
          </p:cNvSpPr>
          <p:nvPr>
            <p:ph type="title"/>
          </p:nvPr>
        </p:nvSpPr>
        <p:spPr/>
        <p:txBody>
          <a:bodyPr>
            <a:normAutofit/>
          </a:bodyPr>
          <a:lstStyle/>
          <a:p>
            <a:r>
              <a:rPr lang="en-AU" i="1" dirty="0">
                <a:effectLst/>
                <a:latin typeface="Helvetica" pitchFamily="2" charset="0"/>
              </a:rPr>
              <a:t>PAINTING YOUR CAR BODY</a:t>
            </a:r>
            <a:br>
              <a:rPr lang="en-AU"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4F7CB731-F2A3-DD4A-FABC-F0AAF2D774A6}"/>
              </a:ext>
            </a:extLst>
          </p:cNvPr>
          <p:cNvSpPr>
            <a:spLocks noGrp="1"/>
          </p:cNvSpPr>
          <p:nvPr>
            <p:ph idx="1"/>
          </p:nvPr>
        </p:nvSpPr>
        <p:spPr>
          <a:xfrm>
            <a:off x="501869" y="1352659"/>
            <a:ext cx="10515600" cy="4351338"/>
          </a:xfrm>
        </p:spPr>
        <p:txBody>
          <a:bodyPr>
            <a:normAutofit/>
          </a:bodyPr>
          <a:lstStyle/>
          <a:p>
            <a:pPr marL="0" indent="0">
              <a:buNone/>
            </a:pPr>
            <a:r>
              <a:rPr lang="en-AU" sz="2000" i="1" dirty="0">
                <a:effectLst/>
                <a:latin typeface="Helvetica" pitchFamily="2" charset="0"/>
              </a:rPr>
              <a:t>As in the fine shaping stage, extra patience and effort put into the finishing stage can pay big dividends.</a:t>
            </a:r>
            <a:endParaRPr lang="en-AU" sz="2000" dirty="0">
              <a:effectLst/>
              <a:latin typeface="Helvetica" pitchFamily="2" charset="0"/>
            </a:endParaRPr>
          </a:p>
          <a:p>
            <a:pPr marL="0" indent="0">
              <a:buNone/>
            </a:pPr>
            <a:r>
              <a:rPr lang="en-AU" sz="2000" i="1" dirty="0">
                <a:effectLst/>
                <a:latin typeface="Helvetica" pitchFamily="2" charset="0"/>
              </a:rPr>
              <a:t>Be aware that using several coats of paint can add weight to your car.</a:t>
            </a:r>
            <a:endParaRPr lang="en-AU" sz="2000" dirty="0">
              <a:effectLst/>
              <a:latin typeface="Helvetica" pitchFamily="2" charset="0"/>
            </a:endParaRPr>
          </a:p>
          <a:p>
            <a:pPr marL="0" indent="0">
              <a:buNone/>
            </a:pPr>
            <a:r>
              <a:rPr lang="en-AU" sz="2000" i="1" dirty="0">
                <a:effectLst/>
                <a:latin typeface="Helvetica" pitchFamily="2" charset="0"/>
              </a:rPr>
              <a:t>1. Make up a handle and hanger. Cut a 500mm length of flat cut (5mm X 18mm </a:t>
            </a:r>
            <a:r>
              <a:rPr lang="en-AU" sz="2000" i="1" dirty="0" err="1">
                <a:effectLst/>
                <a:latin typeface="Helvetica" pitchFamily="2" charset="0"/>
              </a:rPr>
              <a:t>approx</a:t>
            </a:r>
            <a:r>
              <a:rPr lang="en-AU" sz="2000" i="1" dirty="0">
                <a:effectLst/>
                <a:latin typeface="Helvetica" pitchFamily="2" charset="0"/>
              </a:rPr>
              <a:t>) timber.</a:t>
            </a:r>
            <a:r>
              <a:rPr lang="en-AU" sz="2000" dirty="0">
                <a:latin typeface="Helvetica" pitchFamily="2" charset="0"/>
              </a:rPr>
              <a:t> </a:t>
            </a:r>
            <a:r>
              <a:rPr lang="en-AU" sz="2000" i="1" dirty="0">
                <a:effectLst/>
                <a:latin typeface="Helvetica" pitchFamily="2" charset="0"/>
              </a:rPr>
              <a:t>Slightly sand off the edges at one end and drill a hole in the other.</a:t>
            </a:r>
            <a:endParaRPr lang="en-AU" sz="2000" dirty="0">
              <a:effectLst/>
              <a:latin typeface="Helvetica" pitchFamily="2" charset="0"/>
            </a:endParaRPr>
          </a:p>
          <a:p>
            <a:pPr marL="0" indent="0">
              <a:buNone/>
            </a:pPr>
            <a:endParaRPr lang="en-US" sz="2000" dirty="0"/>
          </a:p>
        </p:txBody>
      </p:sp>
      <p:pic>
        <p:nvPicPr>
          <p:cNvPr id="5" name="Picture 4" descr="A line drawing of a bar&#10;&#10;Description automatically generated">
            <a:extLst>
              <a:ext uri="{FF2B5EF4-FFF2-40B4-BE49-F238E27FC236}">
                <a16:creationId xmlns:a16="http://schemas.microsoft.com/office/drawing/2014/main" id="{0C9C6EAF-BA90-753A-9413-177AD7F24695}"/>
              </a:ext>
            </a:extLst>
          </p:cNvPr>
          <p:cNvPicPr>
            <a:picLocks noChangeAspect="1"/>
          </p:cNvPicPr>
          <p:nvPr/>
        </p:nvPicPr>
        <p:blipFill>
          <a:blip r:embed="rId2"/>
          <a:stretch>
            <a:fillRect/>
          </a:stretch>
        </p:blipFill>
        <p:spPr>
          <a:xfrm>
            <a:off x="1718762" y="3202662"/>
            <a:ext cx="7772400" cy="1396673"/>
          </a:xfrm>
          <a:prstGeom prst="rect">
            <a:avLst/>
          </a:prstGeom>
        </p:spPr>
      </p:pic>
      <p:sp>
        <p:nvSpPr>
          <p:cNvPr id="6" name="TextBox 5">
            <a:extLst>
              <a:ext uri="{FF2B5EF4-FFF2-40B4-BE49-F238E27FC236}">
                <a16:creationId xmlns:a16="http://schemas.microsoft.com/office/drawing/2014/main" id="{16F186BE-C24A-4C77-67C5-883D258D4C55}"/>
              </a:ext>
            </a:extLst>
          </p:cNvPr>
          <p:cNvSpPr txBox="1"/>
          <p:nvPr/>
        </p:nvSpPr>
        <p:spPr>
          <a:xfrm>
            <a:off x="756745" y="4750676"/>
            <a:ext cx="10521470" cy="2308324"/>
          </a:xfrm>
          <a:prstGeom prst="rect">
            <a:avLst/>
          </a:prstGeom>
          <a:noFill/>
        </p:spPr>
        <p:txBody>
          <a:bodyPr wrap="none" rtlCol="0">
            <a:spAutoFit/>
          </a:bodyPr>
          <a:lstStyle/>
          <a:p>
            <a:r>
              <a:rPr lang="en-AU" i="1" dirty="0">
                <a:effectLst/>
                <a:latin typeface="Helvetica" pitchFamily="2" charset="0"/>
              </a:rPr>
              <a:t>2. Insert the handle into the power plant housing of the car body so that the timber jams slightly</a:t>
            </a:r>
            <a:endParaRPr lang="en-AU" dirty="0">
              <a:effectLst/>
              <a:latin typeface="Helvetica" pitchFamily="2" charset="0"/>
            </a:endParaRPr>
          </a:p>
          <a:p>
            <a:r>
              <a:rPr lang="en-AU" i="1" dirty="0">
                <a:effectLst/>
                <a:latin typeface="Helvetica" pitchFamily="2" charset="0"/>
              </a:rPr>
              <a:t>against the sides of the power plant hole. Enough to hold it on the handle when it is hanging down.</a:t>
            </a:r>
            <a:endParaRPr lang="en-AU" dirty="0">
              <a:effectLst/>
              <a:latin typeface="Helvetica" pitchFamily="2" charset="0"/>
            </a:endParaRPr>
          </a:p>
          <a:p>
            <a:r>
              <a:rPr lang="en-AU" i="1" dirty="0">
                <a:effectLst/>
                <a:latin typeface="Helvetica" pitchFamily="2" charset="0"/>
              </a:rPr>
              <a:t>This makes a very convenient handle for turning the body to paint it from all angles and you can</a:t>
            </a:r>
            <a:endParaRPr lang="en-AU" dirty="0">
              <a:effectLst/>
              <a:latin typeface="Helvetica" pitchFamily="2" charset="0"/>
            </a:endParaRPr>
          </a:p>
          <a:p>
            <a:r>
              <a:rPr lang="en-AU" i="1" dirty="0">
                <a:effectLst/>
                <a:latin typeface="Helvetica" pitchFamily="2" charset="0"/>
              </a:rPr>
              <a:t>hang it from a nail over a drip container while the paint dries.</a:t>
            </a:r>
            <a:endParaRPr lang="en-AU" dirty="0">
              <a:effectLst/>
              <a:latin typeface="Helvetica" pitchFamily="2" charset="0"/>
            </a:endParaRPr>
          </a:p>
          <a:p>
            <a:r>
              <a:rPr lang="en-AU" i="1" dirty="0">
                <a:effectLst/>
                <a:latin typeface="Helvetica" pitchFamily="2" charset="0"/>
              </a:rPr>
              <a:t>3. Apply undercoat and sand between coats. You can dip the car body into a deep tall vessel, such as</a:t>
            </a:r>
            <a:endParaRPr lang="en-AU" dirty="0">
              <a:effectLst/>
              <a:latin typeface="Helvetica" pitchFamily="2" charset="0"/>
            </a:endParaRPr>
          </a:p>
          <a:p>
            <a:r>
              <a:rPr lang="en-AU" i="1" dirty="0">
                <a:effectLst/>
                <a:latin typeface="Helvetica" pitchFamily="2" charset="0"/>
              </a:rPr>
              <a:t>an old vase, filled with the paint and let it hang to dry</a:t>
            </a:r>
            <a:endParaRPr lang="en-AU" dirty="0">
              <a:effectLst/>
              <a:latin typeface="Helvetica" pitchFamily="2" charset="0"/>
            </a:endParaRPr>
          </a:p>
          <a:p>
            <a:r>
              <a:rPr lang="en-AU" i="1" dirty="0">
                <a:effectLst/>
                <a:latin typeface="Helvetica" pitchFamily="2" charset="0"/>
              </a:rPr>
              <a:t>4. Use a spray can or airbrush to apply paint to</a:t>
            </a:r>
            <a:endParaRPr lang="en-AU" dirty="0">
              <a:effectLst/>
              <a:latin typeface="Helvetica" pitchFamily="2" charset="0"/>
            </a:endParaRPr>
          </a:p>
          <a:p>
            <a:endParaRPr lang="en-US" dirty="0"/>
          </a:p>
        </p:txBody>
      </p:sp>
    </p:spTree>
    <p:extLst>
      <p:ext uri="{BB962C8B-B14F-4D97-AF65-F5344CB8AC3E}">
        <p14:creationId xmlns:p14="http://schemas.microsoft.com/office/powerpoint/2010/main" val="196301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hand holding a metal handle&#10;&#10;Description automatically generated">
            <a:extLst>
              <a:ext uri="{FF2B5EF4-FFF2-40B4-BE49-F238E27FC236}">
                <a16:creationId xmlns:a16="http://schemas.microsoft.com/office/drawing/2014/main" id="{D2B2F636-F69E-5261-3F9D-A98D423C8A07}"/>
              </a:ext>
            </a:extLst>
          </p:cNvPr>
          <p:cNvPicPr>
            <a:picLocks noGrp="1" noChangeAspect="1"/>
          </p:cNvPicPr>
          <p:nvPr>
            <p:ph idx="1"/>
          </p:nvPr>
        </p:nvPicPr>
        <p:blipFill>
          <a:blip r:embed="rId2"/>
          <a:stretch>
            <a:fillRect/>
          </a:stretch>
        </p:blipFill>
        <p:spPr>
          <a:xfrm>
            <a:off x="571757" y="1690688"/>
            <a:ext cx="11048486" cy="3614880"/>
          </a:xfrm>
        </p:spPr>
      </p:pic>
    </p:spTree>
    <p:extLst>
      <p:ext uri="{BB962C8B-B14F-4D97-AF65-F5344CB8AC3E}">
        <p14:creationId xmlns:p14="http://schemas.microsoft.com/office/powerpoint/2010/main" val="903058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904EF-437C-BE93-BFDE-73A2B5915C55}"/>
              </a:ext>
            </a:extLst>
          </p:cNvPr>
          <p:cNvSpPr>
            <a:spLocks noGrp="1"/>
          </p:cNvSpPr>
          <p:nvPr>
            <p:ph type="title"/>
          </p:nvPr>
        </p:nvSpPr>
        <p:spPr/>
        <p:txBody>
          <a:bodyPr>
            <a:normAutofit fontScale="90000"/>
          </a:bodyPr>
          <a:lstStyle/>
          <a:p>
            <a:r>
              <a:rPr lang="en-AU" i="1" dirty="0">
                <a:effectLst/>
                <a:latin typeface="Helvetica" pitchFamily="2" charset="0"/>
              </a:rPr>
              <a:t>Final Assembly:</a:t>
            </a:r>
            <a:br>
              <a:rPr lang="en-AU" dirty="0">
                <a:effectLst/>
                <a:latin typeface="Helvetica" pitchFamily="2" charset="0"/>
              </a:rPr>
            </a:br>
            <a:r>
              <a:rPr lang="en-AU" i="1" dirty="0">
                <a:effectLst/>
                <a:latin typeface="Helvetica" pitchFamily="2" charset="0"/>
              </a:rPr>
              <a:t>Mounting Wheels and Hardware</a:t>
            </a:r>
            <a:br>
              <a:rPr lang="en-AU"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47EBE947-4637-00EB-6C6A-44FE080EE142}"/>
              </a:ext>
            </a:extLst>
          </p:cNvPr>
          <p:cNvSpPr>
            <a:spLocks noGrp="1"/>
          </p:cNvSpPr>
          <p:nvPr>
            <p:ph idx="1"/>
          </p:nvPr>
        </p:nvSpPr>
        <p:spPr/>
        <p:txBody>
          <a:bodyPr>
            <a:normAutofit/>
          </a:bodyPr>
          <a:lstStyle/>
          <a:p>
            <a:pPr marL="0" indent="0">
              <a:buNone/>
            </a:pPr>
            <a:r>
              <a:rPr lang="en-AU" i="1" dirty="0">
                <a:effectLst/>
                <a:latin typeface="Helvetica" pitchFamily="2" charset="0"/>
              </a:rPr>
              <a:t>Don’t overlook the importance of this stage. A huge factor in race performance is how smoothly the car</a:t>
            </a:r>
            <a:endParaRPr lang="en-AU" dirty="0">
              <a:effectLst/>
              <a:latin typeface="Helvetica" pitchFamily="2" charset="0"/>
            </a:endParaRPr>
          </a:p>
          <a:p>
            <a:pPr marL="0" indent="0">
              <a:buNone/>
            </a:pPr>
            <a:r>
              <a:rPr lang="en-AU" i="1" dirty="0">
                <a:effectLst/>
                <a:latin typeface="Helvetica" pitchFamily="2" charset="0"/>
              </a:rPr>
              <a:t>rolls down the track. Some meticulously shaped cars have failed to finish races because of improperly</a:t>
            </a:r>
            <a:endParaRPr lang="en-AU" dirty="0">
              <a:effectLst/>
              <a:latin typeface="Helvetica" pitchFamily="2" charset="0"/>
            </a:endParaRPr>
          </a:p>
          <a:p>
            <a:pPr marL="0" indent="0">
              <a:buNone/>
            </a:pPr>
            <a:r>
              <a:rPr lang="en-AU" i="1" dirty="0">
                <a:effectLst/>
                <a:latin typeface="Helvetica" pitchFamily="2" charset="0"/>
              </a:rPr>
              <a:t>installed hardware!</a:t>
            </a:r>
          </a:p>
          <a:p>
            <a:pPr marL="0" indent="0">
              <a:buNone/>
            </a:pPr>
            <a:r>
              <a:rPr lang="en-AU" i="1" dirty="0">
                <a:effectLst/>
                <a:latin typeface="Helvetica" pitchFamily="2" charset="0"/>
              </a:rPr>
              <a:t>1. Gather your hardware: two axles, two straw bearings, four wheels, four washers, and two screw eyes. Depending on the configuration of the car body, different hardware might be required. Shell cars (with internal wheels) often require wheel spacers and clips to affix the axles to the car body.</a:t>
            </a:r>
            <a:endParaRPr lang="en-AU" dirty="0">
              <a:effectLst/>
              <a:latin typeface="Helvetica" pitchFamily="2" charset="0"/>
            </a:endParaRPr>
          </a:p>
          <a:p>
            <a:pPr marL="0" indent="0">
              <a:buNone/>
            </a:pPr>
            <a:endParaRPr lang="en-AU" dirty="0">
              <a:effectLst/>
              <a:latin typeface="Helvetica" pitchFamily="2" charset="0"/>
            </a:endParaRPr>
          </a:p>
          <a:p>
            <a:pPr marL="0" indent="0">
              <a:buNone/>
            </a:pPr>
            <a:endParaRPr lang="en-US" dirty="0"/>
          </a:p>
        </p:txBody>
      </p:sp>
    </p:spTree>
    <p:extLst>
      <p:ext uri="{BB962C8B-B14F-4D97-AF65-F5344CB8AC3E}">
        <p14:creationId xmlns:p14="http://schemas.microsoft.com/office/powerpoint/2010/main" val="3498603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97598C-531E-B774-B12D-4C6339F4EDF9}"/>
              </a:ext>
            </a:extLst>
          </p:cNvPr>
          <p:cNvSpPr>
            <a:spLocks noGrp="1"/>
          </p:cNvSpPr>
          <p:nvPr>
            <p:ph idx="1"/>
          </p:nvPr>
        </p:nvSpPr>
        <p:spPr>
          <a:xfrm>
            <a:off x="554421" y="669487"/>
            <a:ext cx="11374820" cy="5447534"/>
          </a:xfrm>
        </p:spPr>
        <p:txBody>
          <a:bodyPr>
            <a:normAutofit lnSpcReduction="10000"/>
          </a:bodyPr>
          <a:lstStyle/>
          <a:p>
            <a:pPr marL="0" indent="0">
              <a:buNone/>
            </a:pPr>
            <a:r>
              <a:rPr lang="en-AU" i="1" dirty="0">
                <a:effectLst/>
                <a:latin typeface="Helvetica" pitchFamily="2" charset="0"/>
              </a:rPr>
              <a:t>2. Check your spec sheet for rules about wheels, axles, washers, and spacers.</a:t>
            </a:r>
            <a:endParaRPr lang="en-AU" dirty="0">
              <a:effectLst/>
              <a:latin typeface="Helvetica" pitchFamily="2" charset="0"/>
            </a:endParaRPr>
          </a:p>
          <a:p>
            <a:pPr marL="0" indent="0">
              <a:buNone/>
            </a:pPr>
            <a:r>
              <a:rPr lang="en-AU" i="1" dirty="0">
                <a:effectLst/>
                <a:latin typeface="Helvetica" pitchFamily="2" charset="0"/>
              </a:rPr>
              <a:t>3. Check that the wheels have no plastic joining tabs on the rims. If they do, trim them off with a</a:t>
            </a:r>
            <a:r>
              <a:rPr lang="en-AU" dirty="0">
                <a:latin typeface="Helvetica" pitchFamily="2" charset="0"/>
              </a:rPr>
              <a:t> </a:t>
            </a:r>
            <a:r>
              <a:rPr lang="en-AU" i="1" dirty="0">
                <a:effectLst/>
                <a:latin typeface="Helvetica" pitchFamily="2" charset="0"/>
              </a:rPr>
              <a:t>craft knife.</a:t>
            </a:r>
            <a:endParaRPr lang="en-AU" dirty="0">
              <a:effectLst/>
              <a:latin typeface="Helvetica" pitchFamily="2" charset="0"/>
            </a:endParaRPr>
          </a:p>
          <a:p>
            <a:pPr marL="0" indent="0">
              <a:buNone/>
            </a:pPr>
            <a:r>
              <a:rPr lang="en-AU" i="1" dirty="0">
                <a:effectLst/>
                <a:latin typeface="Helvetica" pitchFamily="2" charset="0"/>
              </a:rPr>
              <a:t>4. Carefully mount the wheels and axles as dictated by your design. Be careful not to damage the</a:t>
            </a:r>
            <a:r>
              <a:rPr lang="en-AU" dirty="0">
                <a:latin typeface="Helvetica" pitchFamily="2" charset="0"/>
              </a:rPr>
              <a:t> </a:t>
            </a:r>
            <a:r>
              <a:rPr lang="en-AU" i="1" dirty="0">
                <a:effectLst/>
                <a:latin typeface="Helvetica" pitchFamily="2" charset="0"/>
              </a:rPr>
              <a:t>fragile car body during installation.</a:t>
            </a:r>
          </a:p>
          <a:p>
            <a:pPr marL="0" indent="0">
              <a:buNone/>
            </a:pPr>
            <a:r>
              <a:rPr lang="en-AU" i="1" dirty="0">
                <a:effectLst/>
                <a:latin typeface="Helvetica" pitchFamily="2" charset="0"/>
              </a:rPr>
              <a:t>5. Roll test the car on a smooth, horizontal surface. The car should roll freely, and the wheels should spin without restriction. Make adjustments if necessary.</a:t>
            </a:r>
          </a:p>
          <a:p>
            <a:pPr marL="0" indent="0">
              <a:buNone/>
            </a:pPr>
            <a:endParaRPr lang="en-AU" i="1" dirty="0">
              <a:latin typeface="Helvetica" pitchFamily="2" charset="0"/>
            </a:endParaRPr>
          </a:p>
          <a:p>
            <a:pPr marL="0" indent="0">
              <a:buNone/>
            </a:pPr>
            <a:r>
              <a:rPr lang="en-AU" i="1" dirty="0">
                <a:effectLst/>
                <a:latin typeface="Helvetica" pitchFamily="2" charset="0"/>
              </a:rPr>
              <a:t>Install the screw eyes on the underside of the car body. Important: Plan the location of the screw eyes so</a:t>
            </a:r>
            <a:endParaRPr lang="en-AU" dirty="0">
              <a:effectLst/>
              <a:latin typeface="Helvetica" pitchFamily="2" charset="0"/>
            </a:endParaRPr>
          </a:p>
          <a:p>
            <a:pPr marL="0" indent="0">
              <a:buNone/>
            </a:pPr>
            <a:r>
              <a:rPr lang="en-AU" i="1" dirty="0">
                <a:effectLst/>
                <a:latin typeface="Helvetica" pitchFamily="2" charset="0"/>
              </a:rPr>
              <a:t>the guideline does not rub against the car body or wheels.</a:t>
            </a:r>
            <a:endParaRPr lang="en-AU" dirty="0">
              <a:effectLst/>
              <a:latin typeface="Helvetica" pitchFamily="2" charset="0"/>
            </a:endParaRPr>
          </a:p>
          <a:p>
            <a:pPr marL="0" indent="0">
              <a:buNone/>
            </a:pPr>
            <a:endParaRPr lang="en-AU" dirty="0">
              <a:effectLst/>
              <a:latin typeface="Helvetica" pitchFamily="2" charset="0"/>
            </a:endParaRPr>
          </a:p>
          <a:p>
            <a:pPr marL="0" indent="0">
              <a:buNone/>
            </a:pPr>
            <a:endParaRPr lang="en-AU" dirty="0">
              <a:effectLst/>
              <a:latin typeface="Helvetica" pitchFamily="2" charset="0"/>
            </a:endParaRPr>
          </a:p>
          <a:p>
            <a:pPr marL="0" indent="0">
              <a:buNone/>
            </a:pPr>
            <a:endParaRPr lang="en-US" dirty="0"/>
          </a:p>
        </p:txBody>
      </p:sp>
    </p:spTree>
    <p:extLst>
      <p:ext uri="{BB962C8B-B14F-4D97-AF65-F5344CB8AC3E}">
        <p14:creationId xmlns:p14="http://schemas.microsoft.com/office/powerpoint/2010/main" val="375671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466BB0C-B369-CE8F-DF69-64141B357C9B}"/>
              </a:ext>
            </a:extLst>
          </p:cNvPr>
          <p:cNvSpPr txBox="1">
            <a:spLocks/>
          </p:cNvSpPr>
          <p:nvPr/>
        </p:nvSpPr>
        <p:spPr>
          <a:xfrm>
            <a:off x="191040" y="0"/>
            <a:ext cx="10648057" cy="10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tx1">
                    <a:lumMod val="85000"/>
                    <a:lumOff val="15000"/>
                  </a:schemeClr>
                </a:solidFill>
                <a:latin typeface="Gill Sans" panose="020B0502020104020203" pitchFamily="34" charset="-79"/>
                <a:cs typeface="Gill Sans" panose="020B0502020104020203" pitchFamily="34" charset="-79"/>
              </a:rPr>
              <a:t>Document the Process</a:t>
            </a:r>
          </a:p>
        </p:txBody>
      </p:sp>
      <p:sp>
        <p:nvSpPr>
          <p:cNvPr id="4" name="TextBox 3">
            <a:extLst>
              <a:ext uri="{FF2B5EF4-FFF2-40B4-BE49-F238E27FC236}">
                <a16:creationId xmlns:a16="http://schemas.microsoft.com/office/drawing/2014/main" id="{8E43AF6C-6F64-6553-819A-14618B1A05A2}"/>
              </a:ext>
            </a:extLst>
          </p:cNvPr>
          <p:cNvSpPr txBox="1"/>
          <p:nvPr/>
        </p:nvSpPr>
        <p:spPr>
          <a:xfrm>
            <a:off x="191040" y="1265199"/>
            <a:ext cx="10024111" cy="6740307"/>
          </a:xfrm>
          <a:prstGeom prst="rect">
            <a:avLst/>
          </a:prstGeom>
          <a:noFill/>
        </p:spPr>
        <p:txBody>
          <a:bodyPr wrap="square" rtlCol="0">
            <a:spAutoFit/>
          </a:bodyPr>
          <a:lstStyle/>
          <a:p>
            <a:r>
              <a:rPr lang="en-AU" sz="3600" b="0" i="0" dirty="0">
                <a:solidFill>
                  <a:srgbClr val="666666"/>
                </a:solidFill>
                <a:effectLst/>
                <a:highlight>
                  <a:srgbClr val="FAF685"/>
                </a:highlight>
                <a:latin typeface="Arial" panose="020B0604020202020204" pitchFamily="34" charset="0"/>
              </a:rPr>
              <a:t>You are now ready to start making! But you need to document all the learning you’re about to have (including any failures).</a:t>
            </a:r>
          </a:p>
          <a:p>
            <a:endParaRPr lang="en-AU" sz="3600" dirty="0">
              <a:solidFill>
                <a:srgbClr val="666666"/>
              </a:solidFill>
              <a:highlight>
                <a:srgbClr val="FAF685"/>
              </a:highlight>
              <a:latin typeface="Arial" panose="020B0604020202020204" pitchFamily="34" charset="0"/>
            </a:endParaRPr>
          </a:p>
          <a:p>
            <a:r>
              <a:rPr lang="en-AU" sz="3600" dirty="0">
                <a:solidFill>
                  <a:srgbClr val="666666"/>
                </a:solidFill>
                <a:highlight>
                  <a:srgbClr val="FAF685"/>
                </a:highlight>
                <a:latin typeface="Arial" panose="020B0604020202020204" pitchFamily="34" charset="0"/>
              </a:rPr>
              <a:t>Complete the following PPT pages – 1 for each key step in the process. </a:t>
            </a:r>
            <a:r>
              <a:rPr lang="en-AU" sz="3600" b="1" dirty="0">
                <a:solidFill>
                  <a:srgbClr val="666666"/>
                </a:solidFill>
                <a:highlight>
                  <a:srgbClr val="FAF685"/>
                </a:highlight>
                <a:latin typeface="Arial" panose="020B0604020202020204" pitchFamily="34" charset="0"/>
              </a:rPr>
              <a:t>Duplicate the first slide to add as many steps as needed</a:t>
            </a:r>
            <a:r>
              <a:rPr lang="en-AU" sz="3600" dirty="0">
                <a:solidFill>
                  <a:srgbClr val="666666"/>
                </a:solidFill>
                <a:highlight>
                  <a:srgbClr val="FAF685"/>
                </a:highlight>
                <a:latin typeface="Arial" panose="020B0604020202020204" pitchFamily="34" charset="0"/>
              </a:rPr>
              <a:t>. Take photos and add annotations (even videos or sound recordings). Feel free to modify the templates.</a:t>
            </a:r>
          </a:p>
          <a:p>
            <a:endParaRPr lang="en-AU" sz="3600" dirty="0">
              <a:solidFill>
                <a:srgbClr val="666666"/>
              </a:solidFill>
              <a:highlight>
                <a:srgbClr val="FAF685"/>
              </a:highlight>
              <a:latin typeface="Arial" panose="020B0604020202020204" pitchFamily="34" charset="0"/>
            </a:endParaRPr>
          </a:p>
          <a:p>
            <a:r>
              <a:rPr lang="en-AU" sz="3600" dirty="0">
                <a:solidFill>
                  <a:srgbClr val="666666"/>
                </a:solidFill>
                <a:highlight>
                  <a:srgbClr val="FAF685"/>
                </a:highlight>
                <a:latin typeface="Arial" panose="020B0604020202020204" pitchFamily="34" charset="0"/>
              </a:rPr>
              <a:t> </a:t>
            </a:r>
            <a:endParaRPr lang="en-US" sz="3600" dirty="0"/>
          </a:p>
        </p:txBody>
      </p:sp>
    </p:spTree>
    <p:extLst>
      <p:ext uri="{BB962C8B-B14F-4D97-AF65-F5344CB8AC3E}">
        <p14:creationId xmlns:p14="http://schemas.microsoft.com/office/powerpoint/2010/main" val="3409519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3784-BFB4-5994-B7EA-83D5FD115408}"/>
              </a:ext>
            </a:extLst>
          </p:cNvPr>
          <p:cNvSpPr txBox="1">
            <a:spLocks/>
          </p:cNvSpPr>
          <p:nvPr/>
        </p:nvSpPr>
        <p:spPr>
          <a:xfrm rot="16200000">
            <a:off x="-1014715" y="623766"/>
            <a:ext cx="2742798" cy="10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solidFill>
                  <a:schemeClr val="bg1">
                    <a:lumMod val="85000"/>
                  </a:schemeClr>
                </a:solidFill>
                <a:latin typeface="Gill Sans" panose="020B0502020104020203" pitchFamily="34" charset="-79"/>
                <a:cs typeface="Gill Sans" panose="020B0502020104020203" pitchFamily="34" charset="-79"/>
              </a:rPr>
              <a:t>Step 1</a:t>
            </a:r>
          </a:p>
        </p:txBody>
      </p:sp>
      <p:graphicFrame>
        <p:nvGraphicFramePr>
          <p:cNvPr id="7" name="Table 6">
            <a:extLst>
              <a:ext uri="{FF2B5EF4-FFF2-40B4-BE49-F238E27FC236}">
                <a16:creationId xmlns:a16="http://schemas.microsoft.com/office/drawing/2014/main" id="{22CB7FA7-EFE7-E93F-32CD-7FB8EBA12213}"/>
              </a:ext>
            </a:extLst>
          </p:cNvPr>
          <p:cNvGraphicFramePr>
            <a:graphicFrameLocks noGrp="1"/>
          </p:cNvGraphicFramePr>
          <p:nvPr>
            <p:extLst>
              <p:ext uri="{D42A27DB-BD31-4B8C-83A1-F6EECF244321}">
                <p14:modId xmlns:p14="http://schemas.microsoft.com/office/powerpoint/2010/main" val="1665867288"/>
              </p:ext>
            </p:extLst>
          </p:nvPr>
        </p:nvGraphicFramePr>
        <p:xfrm>
          <a:off x="6993435" y="1075336"/>
          <a:ext cx="5078955" cy="852921"/>
        </p:xfrm>
        <a:graphic>
          <a:graphicData uri="http://schemas.openxmlformats.org/drawingml/2006/table">
            <a:tbl>
              <a:tblPr firstRow="1" bandRow="1">
                <a:tableStyleId>{21E4AEA4-8DFA-4A89-87EB-49C32662AFE0}</a:tableStyleId>
              </a:tblPr>
              <a:tblGrid>
                <a:gridCol w="1171444">
                  <a:extLst>
                    <a:ext uri="{9D8B030D-6E8A-4147-A177-3AD203B41FA5}">
                      <a16:colId xmlns:a16="http://schemas.microsoft.com/office/drawing/2014/main" val="1745638079"/>
                    </a:ext>
                  </a:extLst>
                </a:gridCol>
                <a:gridCol w="3907511">
                  <a:extLst>
                    <a:ext uri="{9D8B030D-6E8A-4147-A177-3AD203B41FA5}">
                      <a16:colId xmlns:a16="http://schemas.microsoft.com/office/drawing/2014/main" val="3546363357"/>
                    </a:ext>
                  </a:extLst>
                </a:gridCol>
              </a:tblGrid>
              <a:tr h="852921">
                <a:tc>
                  <a:txBody>
                    <a:bodyPr/>
                    <a:lstStyle/>
                    <a:p>
                      <a:r>
                        <a:rPr lang="en-US" dirty="0"/>
                        <a:t>Tools  Required</a:t>
                      </a:r>
                    </a:p>
                  </a:txBody>
                  <a:tcPr/>
                </a:tc>
                <a:tc>
                  <a:txBody>
                    <a:bodyPr/>
                    <a:lstStyle/>
                    <a:p>
                      <a:endParaRPr lang="en-US" dirty="0"/>
                    </a:p>
                  </a:txBody>
                  <a:tcPr/>
                </a:tc>
                <a:extLst>
                  <a:ext uri="{0D108BD9-81ED-4DB2-BD59-A6C34878D82A}">
                    <a16:rowId xmlns:a16="http://schemas.microsoft.com/office/drawing/2014/main" val="3863566063"/>
                  </a:ext>
                </a:extLst>
              </a:tr>
            </a:tbl>
          </a:graphicData>
        </a:graphic>
      </p:graphicFrame>
      <p:graphicFrame>
        <p:nvGraphicFramePr>
          <p:cNvPr id="9" name="Table 8">
            <a:extLst>
              <a:ext uri="{FF2B5EF4-FFF2-40B4-BE49-F238E27FC236}">
                <a16:creationId xmlns:a16="http://schemas.microsoft.com/office/drawing/2014/main" id="{F0C28C23-049B-706D-F180-37DD1253B1C1}"/>
              </a:ext>
            </a:extLst>
          </p:cNvPr>
          <p:cNvGraphicFramePr>
            <a:graphicFrameLocks noGrp="1"/>
          </p:cNvGraphicFramePr>
          <p:nvPr>
            <p:extLst>
              <p:ext uri="{D42A27DB-BD31-4B8C-83A1-F6EECF244321}">
                <p14:modId xmlns:p14="http://schemas.microsoft.com/office/powerpoint/2010/main" val="1293688520"/>
              </p:ext>
            </p:extLst>
          </p:nvPr>
        </p:nvGraphicFramePr>
        <p:xfrm>
          <a:off x="6993437" y="3613666"/>
          <a:ext cx="5078955" cy="1440811"/>
        </p:xfrm>
        <a:graphic>
          <a:graphicData uri="http://schemas.openxmlformats.org/drawingml/2006/table">
            <a:tbl>
              <a:tblPr firstRow="1" bandRow="1">
                <a:tableStyleId>{74C1A8A3-306A-4EB7-A6B1-4F7E0EB9C5D6}</a:tableStyleId>
              </a:tblPr>
              <a:tblGrid>
                <a:gridCol w="1171444">
                  <a:extLst>
                    <a:ext uri="{9D8B030D-6E8A-4147-A177-3AD203B41FA5}">
                      <a16:colId xmlns:a16="http://schemas.microsoft.com/office/drawing/2014/main" val="1745638079"/>
                    </a:ext>
                  </a:extLst>
                </a:gridCol>
                <a:gridCol w="3907511">
                  <a:extLst>
                    <a:ext uri="{9D8B030D-6E8A-4147-A177-3AD203B41FA5}">
                      <a16:colId xmlns:a16="http://schemas.microsoft.com/office/drawing/2014/main" val="3546363357"/>
                    </a:ext>
                  </a:extLst>
                </a:gridCol>
              </a:tblGrid>
              <a:tr h="1440811">
                <a:tc>
                  <a:txBody>
                    <a:bodyPr/>
                    <a:lstStyle/>
                    <a:p>
                      <a:r>
                        <a:rPr lang="en-US" dirty="0"/>
                        <a:t>Failures / new skills learnt </a:t>
                      </a:r>
                    </a:p>
                  </a:txBody>
                  <a:tcPr/>
                </a:tc>
                <a:tc>
                  <a:txBody>
                    <a:bodyPr/>
                    <a:lstStyle/>
                    <a:p>
                      <a:endParaRPr lang="en-US" dirty="0"/>
                    </a:p>
                  </a:txBody>
                  <a:tcPr/>
                </a:tc>
                <a:extLst>
                  <a:ext uri="{0D108BD9-81ED-4DB2-BD59-A6C34878D82A}">
                    <a16:rowId xmlns:a16="http://schemas.microsoft.com/office/drawing/2014/main" val="3863566063"/>
                  </a:ext>
                </a:extLst>
              </a:tr>
            </a:tbl>
          </a:graphicData>
        </a:graphic>
      </p:graphicFrame>
      <p:graphicFrame>
        <p:nvGraphicFramePr>
          <p:cNvPr id="10" name="Table 9">
            <a:extLst>
              <a:ext uri="{FF2B5EF4-FFF2-40B4-BE49-F238E27FC236}">
                <a16:creationId xmlns:a16="http://schemas.microsoft.com/office/drawing/2014/main" id="{4A05DB73-072D-EF16-24B1-DDC5E6D77D03}"/>
              </a:ext>
            </a:extLst>
          </p:cNvPr>
          <p:cNvGraphicFramePr>
            <a:graphicFrameLocks noGrp="1"/>
          </p:cNvGraphicFramePr>
          <p:nvPr>
            <p:extLst>
              <p:ext uri="{D42A27DB-BD31-4B8C-83A1-F6EECF244321}">
                <p14:modId xmlns:p14="http://schemas.microsoft.com/office/powerpoint/2010/main" val="151925901"/>
              </p:ext>
            </p:extLst>
          </p:nvPr>
        </p:nvGraphicFramePr>
        <p:xfrm>
          <a:off x="6993437" y="2091778"/>
          <a:ext cx="5078955" cy="1308369"/>
        </p:xfrm>
        <a:graphic>
          <a:graphicData uri="http://schemas.openxmlformats.org/drawingml/2006/table">
            <a:tbl>
              <a:tblPr firstRow="1" bandRow="1">
                <a:tableStyleId>{EB9631B5-78F2-41C9-869B-9F39066F8104}</a:tableStyleId>
              </a:tblPr>
              <a:tblGrid>
                <a:gridCol w="1171444">
                  <a:extLst>
                    <a:ext uri="{9D8B030D-6E8A-4147-A177-3AD203B41FA5}">
                      <a16:colId xmlns:a16="http://schemas.microsoft.com/office/drawing/2014/main" val="1745638079"/>
                    </a:ext>
                  </a:extLst>
                </a:gridCol>
                <a:gridCol w="3907511">
                  <a:extLst>
                    <a:ext uri="{9D8B030D-6E8A-4147-A177-3AD203B41FA5}">
                      <a16:colId xmlns:a16="http://schemas.microsoft.com/office/drawing/2014/main" val="3546363357"/>
                    </a:ext>
                  </a:extLst>
                </a:gridCol>
              </a:tblGrid>
              <a:tr h="1308369">
                <a:tc>
                  <a:txBody>
                    <a:bodyPr/>
                    <a:lstStyle/>
                    <a:p>
                      <a:r>
                        <a:rPr lang="en-US" dirty="0"/>
                        <a:t>Safety considerations</a:t>
                      </a:r>
                    </a:p>
                  </a:txBody>
                  <a:tcPr/>
                </a:tc>
                <a:tc>
                  <a:txBody>
                    <a:bodyPr/>
                    <a:lstStyle/>
                    <a:p>
                      <a:endParaRPr lang="en-US" dirty="0"/>
                    </a:p>
                  </a:txBody>
                  <a:tcPr/>
                </a:tc>
                <a:extLst>
                  <a:ext uri="{0D108BD9-81ED-4DB2-BD59-A6C34878D82A}">
                    <a16:rowId xmlns:a16="http://schemas.microsoft.com/office/drawing/2014/main" val="3863566063"/>
                  </a:ext>
                </a:extLst>
              </a:tr>
            </a:tbl>
          </a:graphicData>
        </a:graphic>
      </p:graphicFrame>
      <p:sp>
        <p:nvSpPr>
          <p:cNvPr id="11" name="TextBox 10">
            <a:extLst>
              <a:ext uri="{FF2B5EF4-FFF2-40B4-BE49-F238E27FC236}">
                <a16:creationId xmlns:a16="http://schemas.microsoft.com/office/drawing/2014/main" id="{BA83DFE2-1E5E-2D50-AD5C-59B539A7C4D2}"/>
              </a:ext>
            </a:extLst>
          </p:cNvPr>
          <p:cNvSpPr txBox="1"/>
          <p:nvPr/>
        </p:nvSpPr>
        <p:spPr>
          <a:xfrm>
            <a:off x="1840376" y="3244334"/>
            <a:ext cx="3481209" cy="1200329"/>
          </a:xfrm>
          <a:prstGeom prst="rect">
            <a:avLst/>
          </a:prstGeom>
          <a:noFill/>
        </p:spPr>
        <p:txBody>
          <a:bodyPr wrap="none" rtlCol="0">
            <a:spAutoFit/>
          </a:bodyPr>
          <a:lstStyle/>
          <a:p>
            <a:pPr algn="ctr"/>
            <a:r>
              <a:rPr lang="en-US" dirty="0"/>
              <a:t>Duplicate this slide for each step</a:t>
            </a:r>
          </a:p>
          <a:p>
            <a:pPr algn="ctr"/>
            <a:endParaRPr lang="en-US" dirty="0"/>
          </a:p>
          <a:p>
            <a:pPr algn="ctr"/>
            <a:endParaRPr lang="en-US" dirty="0"/>
          </a:p>
          <a:p>
            <a:pPr algn="ctr"/>
            <a:r>
              <a:rPr lang="en-US" dirty="0"/>
              <a:t>Add photos and annotations here</a:t>
            </a:r>
          </a:p>
        </p:txBody>
      </p:sp>
      <p:graphicFrame>
        <p:nvGraphicFramePr>
          <p:cNvPr id="3" name="Table 2">
            <a:extLst>
              <a:ext uri="{FF2B5EF4-FFF2-40B4-BE49-F238E27FC236}">
                <a16:creationId xmlns:a16="http://schemas.microsoft.com/office/drawing/2014/main" id="{6A13AB03-495E-C014-9BE5-63CDC40586C2}"/>
              </a:ext>
            </a:extLst>
          </p:cNvPr>
          <p:cNvGraphicFramePr>
            <a:graphicFrameLocks noGrp="1"/>
          </p:cNvGraphicFramePr>
          <p:nvPr>
            <p:extLst>
              <p:ext uri="{D42A27DB-BD31-4B8C-83A1-F6EECF244321}">
                <p14:modId xmlns:p14="http://schemas.microsoft.com/office/powerpoint/2010/main" val="2093101459"/>
              </p:ext>
            </p:extLst>
          </p:nvPr>
        </p:nvGraphicFramePr>
        <p:xfrm>
          <a:off x="6993437" y="5272504"/>
          <a:ext cx="5078955" cy="1463040"/>
        </p:xfrm>
        <a:graphic>
          <a:graphicData uri="http://schemas.openxmlformats.org/drawingml/2006/table">
            <a:tbl>
              <a:tblPr firstRow="1" bandRow="1">
                <a:tableStyleId>{74C1A8A3-306A-4EB7-A6B1-4F7E0EB9C5D6}</a:tableStyleId>
              </a:tblPr>
              <a:tblGrid>
                <a:gridCol w="1171444">
                  <a:extLst>
                    <a:ext uri="{9D8B030D-6E8A-4147-A177-3AD203B41FA5}">
                      <a16:colId xmlns:a16="http://schemas.microsoft.com/office/drawing/2014/main" val="1745638079"/>
                    </a:ext>
                  </a:extLst>
                </a:gridCol>
                <a:gridCol w="3907511">
                  <a:extLst>
                    <a:ext uri="{9D8B030D-6E8A-4147-A177-3AD203B41FA5}">
                      <a16:colId xmlns:a16="http://schemas.microsoft.com/office/drawing/2014/main" val="3546363357"/>
                    </a:ext>
                  </a:extLst>
                </a:gridCol>
              </a:tblGrid>
              <a:tr h="1440811">
                <a:tc>
                  <a:txBody>
                    <a:bodyPr/>
                    <a:lstStyle/>
                    <a:p>
                      <a:r>
                        <a:rPr lang="en-US" dirty="0"/>
                        <a:t>Changes to original plan /design  </a:t>
                      </a:r>
                    </a:p>
                  </a:txBody>
                  <a:tcPr>
                    <a:solidFill>
                      <a:schemeClr val="accent6">
                        <a:lumMod val="75000"/>
                      </a:schemeClr>
                    </a:solidFill>
                  </a:tcPr>
                </a:tc>
                <a:tc>
                  <a:txBody>
                    <a:bodyPr/>
                    <a:lstStyle/>
                    <a:p>
                      <a:endParaRPr lang="en-US" dirty="0"/>
                    </a:p>
                  </a:txBody>
                  <a:tcPr>
                    <a:solidFill>
                      <a:schemeClr val="accent6">
                        <a:lumMod val="75000"/>
                      </a:schemeClr>
                    </a:solidFill>
                  </a:tcPr>
                </a:tc>
                <a:extLst>
                  <a:ext uri="{0D108BD9-81ED-4DB2-BD59-A6C34878D82A}">
                    <a16:rowId xmlns:a16="http://schemas.microsoft.com/office/drawing/2014/main" val="3863566063"/>
                  </a:ext>
                </a:extLst>
              </a:tr>
            </a:tbl>
          </a:graphicData>
        </a:graphic>
      </p:graphicFrame>
      <p:graphicFrame>
        <p:nvGraphicFramePr>
          <p:cNvPr id="4" name="Table 3">
            <a:extLst>
              <a:ext uri="{FF2B5EF4-FFF2-40B4-BE49-F238E27FC236}">
                <a16:creationId xmlns:a16="http://schemas.microsoft.com/office/drawing/2014/main" id="{FE4F3294-5E1B-F1DE-9C3D-DDA7AD1D19B9}"/>
              </a:ext>
            </a:extLst>
          </p:cNvPr>
          <p:cNvGraphicFramePr>
            <a:graphicFrameLocks noGrp="1"/>
          </p:cNvGraphicFramePr>
          <p:nvPr>
            <p:extLst>
              <p:ext uri="{D42A27DB-BD31-4B8C-83A1-F6EECF244321}">
                <p14:modId xmlns:p14="http://schemas.microsoft.com/office/powerpoint/2010/main" val="2965010352"/>
              </p:ext>
            </p:extLst>
          </p:nvPr>
        </p:nvGraphicFramePr>
        <p:xfrm>
          <a:off x="6993435" y="58895"/>
          <a:ext cx="5078955" cy="852921"/>
        </p:xfrm>
        <a:graphic>
          <a:graphicData uri="http://schemas.openxmlformats.org/drawingml/2006/table">
            <a:tbl>
              <a:tblPr firstRow="1" bandRow="1">
                <a:tableStyleId>{21E4AEA4-8DFA-4A89-87EB-49C32662AFE0}</a:tableStyleId>
              </a:tblPr>
              <a:tblGrid>
                <a:gridCol w="1171444">
                  <a:extLst>
                    <a:ext uri="{9D8B030D-6E8A-4147-A177-3AD203B41FA5}">
                      <a16:colId xmlns:a16="http://schemas.microsoft.com/office/drawing/2014/main" val="1745638079"/>
                    </a:ext>
                  </a:extLst>
                </a:gridCol>
                <a:gridCol w="3907511">
                  <a:extLst>
                    <a:ext uri="{9D8B030D-6E8A-4147-A177-3AD203B41FA5}">
                      <a16:colId xmlns:a16="http://schemas.microsoft.com/office/drawing/2014/main" val="3546363357"/>
                    </a:ext>
                  </a:extLst>
                </a:gridCol>
              </a:tblGrid>
              <a:tr h="852921">
                <a:tc>
                  <a:txBody>
                    <a:bodyPr/>
                    <a:lstStyle/>
                    <a:p>
                      <a:r>
                        <a:rPr lang="en-US" dirty="0"/>
                        <a:t>Time</a:t>
                      </a:r>
                    </a:p>
                  </a:txBody>
                  <a:tcPr>
                    <a:solidFill>
                      <a:srgbClr val="C00000"/>
                    </a:solidFill>
                  </a:tcPr>
                </a:tc>
                <a:tc>
                  <a:txBody>
                    <a:bodyPr/>
                    <a:lstStyle/>
                    <a:p>
                      <a:endParaRPr lang="en-US" dirty="0"/>
                    </a:p>
                  </a:txBody>
                  <a:tcPr>
                    <a:solidFill>
                      <a:srgbClr val="C00000"/>
                    </a:solidFill>
                  </a:tcPr>
                </a:tc>
                <a:extLst>
                  <a:ext uri="{0D108BD9-81ED-4DB2-BD59-A6C34878D82A}">
                    <a16:rowId xmlns:a16="http://schemas.microsoft.com/office/drawing/2014/main" val="3863566063"/>
                  </a:ext>
                </a:extLst>
              </a:tr>
            </a:tbl>
          </a:graphicData>
        </a:graphic>
      </p:graphicFrame>
    </p:spTree>
    <p:extLst>
      <p:ext uri="{BB962C8B-B14F-4D97-AF65-F5344CB8AC3E}">
        <p14:creationId xmlns:p14="http://schemas.microsoft.com/office/powerpoint/2010/main" val="2618949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3784-BFB4-5994-B7EA-83D5FD115408}"/>
              </a:ext>
            </a:extLst>
          </p:cNvPr>
          <p:cNvSpPr txBox="1">
            <a:spLocks/>
          </p:cNvSpPr>
          <p:nvPr/>
        </p:nvSpPr>
        <p:spPr>
          <a:xfrm>
            <a:off x="0" y="-312039"/>
            <a:ext cx="4065800" cy="1049261"/>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solidFill>
                  <a:schemeClr val="bg1">
                    <a:lumMod val="85000"/>
                  </a:schemeClr>
                </a:solidFill>
                <a:latin typeface="Gill Sans" panose="020B0502020104020203" pitchFamily="34" charset="-79"/>
                <a:cs typeface="Gill Sans" panose="020B0502020104020203" pitchFamily="34" charset="-79"/>
              </a:rPr>
              <a:t>Final Product</a:t>
            </a:r>
          </a:p>
        </p:txBody>
      </p:sp>
      <p:sp>
        <p:nvSpPr>
          <p:cNvPr id="8" name="TextBox 7">
            <a:extLst>
              <a:ext uri="{FF2B5EF4-FFF2-40B4-BE49-F238E27FC236}">
                <a16:creationId xmlns:a16="http://schemas.microsoft.com/office/drawing/2014/main" id="{6AEB52FA-328D-D539-763F-80AE820BD103}"/>
              </a:ext>
            </a:extLst>
          </p:cNvPr>
          <p:cNvSpPr txBox="1"/>
          <p:nvPr/>
        </p:nvSpPr>
        <p:spPr>
          <a:xfrm>
            <a:off x="2032900" y="3244334"/>
            <a:ext cx="7986674" cy="369332"/>
          </a:xfrm>
          <a:prstGeom prst="rect">
            <a:avLst/>
          </a:prstGeom>
          <a:noFill/>
        </p:spPr>
        <p:txBody>
          <a:bodyPr wrap="none" rtlCol="0">
            <a:spAutoFit/>
          </a:bodyPr>
          <a:lstStyle/>
          <a:p>
            <a:r>
              <a:rPr lang="en-US" dirty="0"/>
              <a:t>Instructions: take photos of your final C02 racer in the light box and insert here</a:t>
            </a:r>
          </a:p>
        </p:txBody>
      </p:sp>
    </p:spTree>
    <p:extLst>
      <p:ext uri="{BB962C8B-B14F-4D97-AF65-F5344CB8AC3E}">
        <p14:creationId xmlns:p14="http://schemas.microsoft.com/office/powerpoint/2010/main" val="302773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6261C-FF3E-F4E8-4287-5731720C3C15}"/>
              </a:ext>
            </a:extLst>
          </p:cNvPr>
          <p:cNvSpPr>
            <a:spLocks noGrp="1"/>
          </p:cNvSpPr>
          <p:nvPr>
            <p:ph type="title"/>
          </p:nvPr>
        </p:nvSpPr>
        <p:spPr>
          <a:xfrm>
            <a:off x="468439" y="379413"/>
            <a:ext cx="10515600" cy="1325563"/>
          </a:xfrm>
        </p:spPr>
        <p:txBody>
          <a:bodyPr/>
          <a:lstStyle/>
          <a:p>
            <a:r>
              <a:rPr lang="en-US" dirty="0"/>
              <a:t>Checklist before you submit</a:t>
            </a:r>
          </a:p>
        </p:txBody>
      </p:sp>
      <p:graphicFrame>
        <p:nvGraphicFramePr>
          <p:cNvPr id="4" name="Content Placeholder 3">
            <a:extLst>
              <a:ext uri="{FF2B5EF4-FFF2-40B4-BE49-F238E27FC236}">
                <a16:creationId xmlns:a16="http://schemas.microsoft.com/office/drawing/2014/main" id="{431604E9-5BD8-5FA6-2CF9-6D11749DF735}"/>
              </a:ext>
            </a:extLst>
          </p:cNvPr>
          <p:cNvGraphicFramePr>
            <a:graphicFrameLocks noGrp="1"/>
          </p:cNvGraphicFramePr>
          <p:nvPr>
            <p:ph idx="1"/>
            <p:extLst>
              <p:ext uri="{D42A27DB-BD31-4B8C-83A1-F6EECF244321}">
                <p14:modId xmlns:p14="http://schemas.microsoft.com/office/powerpoint/2010/main" val="3355412901"/>
              </p:ext>
            </p:extLst>
          </p:nvPr>
        </p:nvGraphicFramePr>
        <p:xfrm>
          <a:off x="468439" y="1960721"/>
          <a:ext cx="11135119" cy="2174675"/>
        </p:xfrm>
        <a:graphic>
          <a:graphicData uri="http://schemas.openxmlformats.org/drawingml/2006/table">
            <a:tbl>
              <a:tblPr/>
              <a:tblGrid>
                <a:gridCol w="11135119">
                  <a:extLst>
                    <a:ext uri="{9D8B030D-6E8A-4147-A177-3AD203B41FA5}">
                      <a16:colId xmlns:a16="http://schemas.microsoft.com/office/drawing/2014/main" val="584310877"/>
                    </a:ext>
                  </a:extLst>
                </a:gridCol>
              </a:tblGrid>
              <a:tr h="434935">
                <a:tc>
                  <a:txBody>
                    <a:bodyPr/>
                    <a:lstStyle/>
                    <a:p>
                      <a:pPr marL="285750" marR="0" indent="-285750" fontAlgn="t">
                        <a:spcBef>
                          <a:spcPts val="0"/>
                        </a:spcBef>
                        <a:spcAft>
                          <a:spcPts val="0"/>
                        </a:spcAft>
                        <a:buFont typeface="Wingdings" pitchFamily="2" charset="2"/>
                        <a:buChar char="q"/>
                      </a:pPr>
                      <a:r>
                        <a:rPr lang="en-GB" sz="1800" dirty="0">
                          <a:solidFill>
                            <a:srgbClr val="000000"/>
                          </a:solidFill>
                          <a:effectLst/>
                          <a:latin typeface="Calibri" panose="020F0502020204030204" pitchFamily="34" charset="0"/>
                        </a:rPr>
                        <a:t>I have all of the steps required with the time taken</a:t>
                      </a:r>
                      <a:r>
                        <a:rPr lang="en-US" sz="1800" dirty="0">
                          <a:solidFill>
                            <a:srgbClr val="000000"/>
                          </a:solidFill>
                          <a:effectLst/>
                          <a:latin typeface="Calibri" panose="020F0502020204030204" pitchFamily="34" charset="0"/>
                        </a:rPr>
                        <a:t> </a:t>
                      </a:r>
                      <a:endParaRPr lang="en-GB" sz="1800" dirty="0">
                        <a:solidFill>
                          <a:srgbClr val="000000"/>
                        </a:solidFill>
                        <a:effectLst/>
                        <a:latin typeface="Calibri" panose="020F0502020204030204" pitchFamily="34" charset="0"/>
                      </a:endParaRPr>
                    </a:p>
                  </a:txBody>
                  <a:tcPr marL="77667" marR="77667" marT="77667" marB="77667">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245064394"/>
                  </a:ext>
                </a:extLst>
              </a:tr>
              <a:tr h="434935">
                <a:tc>
                  <a:txBody>
                    <a:bodyPr/>
                    <a:lstStyle/>
                    <a:p>
                      <a:pPr marL="285750" marR="0" indent="-285750" fontAlgn="t">
                        <a:spcBef>
                          <a:spcPts val="0"/>
                        </a:spcBef>
                        <a:spcAft>
                          <a:spcPts val="0"/>
                        </a:spcAft>
                        <a:buFont typeface="Wingdings" pitchFamily="2" charset="2"/>
                        <a:buChar char="q"/>
                      </a:pPr>
                      <a:r>
                        <a:rPr lang="en-GB" sz="1800" dirty="0">
                          <a:solidFill>
                            <a:srgbClr val="000000"/>
                          </a:solidFill>
                          <a:effectLst/>
                          <a:latin typeface="Calibri" panose="020F0502020204030204" pitchFamily="34" charset="0"/>
                        </a:rPr>
                        <a:t>I have described the process taken in achieving each step</a:t>
                      </a:r>
                      <a:r>
                        <a:rPr lang="en-US" sz="1800" dirty="0">
                          <a:solidFill>
                            <a:srgbClr val="000000"/>
                          </a:solidFill>
                          <a:effectLst/>
                          <a:latin typeface="Calibri" panose="020F0502020204030204" pitchFamily="34" charset="0"/>
                        </a:rPr>
                        <a:t> </a:t>
                      </a:r>
                      <a:endParaRPr lang="en-GB" sz="1800" dirty="0">
                        <a:solidFill>
                          <a:srgbClr val="000000"/>
                        </a:solidFill>
                        <a:effectLst/>
                        <a:latin typeface="Calibri" panose="020F0502020204030204" pitchFamily="34" charset="0"/>
                      </a:endParaRPr>
                    </a:p>
                  </a:txBody>
                  <a:tcPr marL="77667" marR="77667" marT="77667" marB="77667">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1303675093"/>
                  </a:ext>
                </a:extLst>
              </a:tr>
              <a:tr h="434935">
                <a:tc>
                  <a:txBody>
                    <a:bodyPr/>
                    <a:lstStyle/>
                    <a:p>
                      <a:pPr marL="285750" marR="0" indent="-285750" fontAlgn="t">
                        <a:spcBef>
                          <a:spcPts val="0"/>
                        </a:spcBef>
                        <a:spcAft>
                          <a:spcPts val="0"/>
                        </a:spcAft>
                        <a:buFont typeface="Wingdings" pitchFamily="2" charset="2"/>
                        <a:buChar char="q"/>
                      </a:pPr>
                      <a:r>
                        <a:rPr lang="en-GB" sz="1800" dirty="0">
                          <a:solidFill>
                            <a:srgbClr val="000000"/>
                          </a:solidFill>
                          <a:effectLst/>
                          <a:latin typeface="Calibri" panose="020F0502020204030204" pitchFamily="34" charset="0"/>
                        </a:rPr>
                        <a:t>I have listed the resources needed along with any safety concerns/risks</a:t>
                      </a:r>
                      <a:r>
                        <a:rPr lang="en-US" sz="1800" dirty="0">
                          <a:solidFill>
                            <a:srgbClr val="000000"/>
                          </a:solidFill>
                          <a:effectLst/>
                          <a:latin typeface="Calibri" panose="020F0502020204030204" pitchFamily="34" charset="0"/>
                        </a:rPr>
                        <a:t> </a:t>
                      </a:r>
                      <a:endParaRPr lang="en-GB" sz="1800" dirty="0">
                        <a:solidFill>
                          <a:srgbClr val="000000"/>
                        </a:solidFill>
                        <a:effectLst/>
                        <a:latin typeface="Calibri" panose="020F0502020204030204" pitchFamily="34" charset="0"/>
                      </a:endParaRPr>
                    </a:p>
                  </a:txBody>
                  <a:tcPr marL="77667" marR="77667" marT="77667" marB="77667">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1534701620"/>
                  </a:ext>
                </a:extLst>
              </a:tr>
              <a:tr h="434935">
                <a:tc>
                  <a:txBody>
                    <a:bodyPr/>
                    <a:lstStyle/>
                    <a:p>
                      <a:pPr marL="285750" marR="0" indent="-285750" fontAlgn="t">
                        <a:spcBef>
                          <a:spcPts val="0"/>
                        </a:spcBef>
                        <a:spcAft>
                          <a:spcPts val="0"/>
                        </a:spcAft>
                        <a:buFont typeface="Wingdings" pitchFamily="2" charset="2"/>
                        <a:buChar char="q"/>
                      </a:pPr>
                      <a:r>
                        <a:rPr lang="en-GB" sz="1800" dirty="0">
                          <a:solidFill>
                            <a:srgbClr val="000000"/>
                          </a:solidFill>
                          <a:effectLst/>
                          <a:latin typeface="Calibri" panose="020F0502020204030204" pitchFamily="34" charset="0"/>
                        </a:rPr>
                        <a:t>I have inserted appropriate images </a:t>
                      </a:r>
                      <a:r>
                        <a:rPr lang="en-US" sz="1800" b="1" dirty="0">
                          <a:solidFill>
                            <a:srgbClr val="000000"/>
                          </a:solidFill>
                          <a:effectLst/>
                          <a:latin typeface="Calibri" panose="020F0502020204030204" pitchFamily="34" charset="0"/>
                        </a:rPr>
                        <a:t>demonstrating </a:t>
                      </a:r>
                      <a:r>
                        <a:rPr lang="en-US" sz="1800" dirty="0">
                          <a:solidFill>
                            <a:srgbClr val="000000"/>
                          </a:solidFill>
                          <a:effectLst/>
                          <a:latin typeface="Calibri" panose="020F0502020204030204" pitchFamily="34" charset="0"/>
                        </a:rPr>
                        <a:t>processes in creation  </a:t>
                      </a:r>
                      <a:endParaRPr lang="en-GB" sz="1800" dirty="0">
                        <a:solidFill>
                          <a:srgbClr val="000000"/>
                        </a:solidFill>
                        <a:effectLst/>
                        <a:latin typeface="Calibri" panose="020F0502020204030204" pitchFamily="34" charset="0"/>
                      </a:endParaRPr>
                    </a:p>
                  </a:txBody>
                  <a:tcPr marL="77667" marR="77667" marT="77667" marB="77667">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674181794"/>
                  </a:ext>
                </a:extLst>
              </a:tr>
              <a:tr h="434935">
                <a:tc>
                  <a:txBody>
                    <a:bodyPr/>
                    <a:lstStyle/>
                    <a:p>
                      <a:pPr marL="285750" marR="0" indent="-285750" fontAlgn="t">
                        <a:spcBef>
                          <a:spcPts val="0"/>
                        </a:spcBef>
                        <a:spcAft>
                          <a:spcPts val="0"/>
                        </a:spcAft>
                        <a:buFont typeface="Wingdings" pitchFamily="2" charset="2"/>
                        <a:buChar char="q"/>
                      </a:pPr>
                      <a:r>
                        <a:rPr lang="en-GB" sz="1800" dirty="0">
                          <a:solidFill>
                            <a:srgbClr val="000000"/>
                          </a:solidFill>
                          <a:effectLst/>
                          <a:latin typeface="Calibri" panose="020F0502020204030204" pitchFamily="34" charset="0"/>
                        </a:rPr>
                        <a:t>I have taken photos of each of my products in the light box and inserted these in the last slide (1 per slide)</a:t>
                      </a:r>
                    </a:p>
                  </a:txBody>
                  <a:tcPr marL="77667" marR="77667" marT="77667" marB="77667">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610919013"/>
                  </a:ext>
                </a:extLst>
              </a:tr>
            </a:tbl>
          </a:graphicData>
        </a:graphic>
      </p:graphicFrame>
    </p:spTree>
    <p:extLst>
      <p:ext uri="{BB962C8B-B14F-4D97-AF65-F5344CB8AC3E}">
        <p14:creationId xmlns:p14="http://schemas.microsoft.com/office/powerpoint/2010/main" val="2143893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659</TotalTime>
  <Words>1150</Words>
  <Application>Microsoft Macintosh PowerPoint</Application>
  <PresentationFormat>Widescreen</PresentationFormat>
  <Paragraphs>71</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Gill Sans</vt:lpstr>
      <vt:lpstr>Helvetica</vt:lpstr>
      <vt:lpstr>Wingdings</vt:lpstr>
      <vt:lpstr>Office Theme</vt:lpstr>
      <vt:lpstr>TRANSFERRING DESIGN TO BODY BLANK </vt:lpstr>
      <vt:lpstr>DRILLING AXLE HOLES </vt:lpstr>
      <vt:lpstr>ROUGH SHAPING THE CAR BODY </vt:lpstr>
      <vt:lpstr>PowerPoint Presentation</vt:lpstr>
      <vt:lpstr>PowerPoint Presentation</vt:lpstr>
      <vt:lpstr>FINE SHAPING THE CAR BODY </vt:lpstr>
      <vt:lpstr>PAINTING YOUR CAR BODY </vt:lpstr>
      <vt:lpstr>PowerPoint Presentation</vt:lpstr>
      <vt:lpstr>Final Assembly: Mounting Wheels and Hardware </vt:lpstr>
      <vt:lpstr>PowerPoint Presentation</vt:lpstr>
      <vt:lpstr>PowerPoint Presentation</vt:lpstr>
      <vt:lpstr>PowerPoint Presentation</vt:lpstr>
      <vt:lpstr>PowerPoint Presentation</vt:lpstr>
      <vt:lpstr>Checklist before you submit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Burton</dc:creator>
  <cp:lastModifiedBy>Matt Burton</cp:lastModifiedBy>
  <cp:revision>27</cp:revision>
  <dcterms:created xsi:type="dcterms:W3CDTF">2024-08-12T06:37:23Z</dcterms:created>
  <dcterms:modified xsi:type="dcterms:W3CDTF">2024-12-04T08:18:55Z</dcterms:modified>
</cp:coreProperties>
</file>