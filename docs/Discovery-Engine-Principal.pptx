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371600"/>
            <a:ext cx="3657600" cy="36576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5029200"/>
            <a:ext cx="2286000" cy="2286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StudioLoom: Discovery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ADCFC"/>
                </a:solidFill>
                <a:latin typeface="Calibri"/>
              </a:defRPr>
            </a:pPr>
            <a:r>
              <a:t>How AI-Powered Self-Discovery Transforms MYP Design Projects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108960"/>
            <a:ext cx="18288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600" b="1">
                <a:solidFill>
                  <a:srgbClr val="CADCFC"/>
                </a:solidFill>
                <a:latin typeface="Calibri"/>
              </a:defRPr>
            </a:pPr>
            <a:r>
              <a:t>Students struggle with three things in design projects: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8A94A6"/>
                </a:solidFill>
                <a:latin typeface="Calibri"/>
              </a:defRPr>
            </a:pPr>
            <a:r>
              <a:t>They don't know themselves well enough to pick meaningful projects.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8A94A6"/>
                </a:solidFill>
                <a:latin typeface="Calibri"/>
              </a:defRPr>
            </a:pPr>
            <a:r>
              <a:t>They can't manage the journey from idea to finished product.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8A94A6"/>
                </a:solidFill>
                <a:latin typeface="Calibri"/>
              </a:defRPr>
            </a:pPr>
            <a:r>
              <a:t>Teachers can't give every student the individual guidance they need.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8A94A6"/>
                </a:solidFill>
                <a:latin typeface="Calibri"/>
              </a:defRPr>
            </a:pPr>
          </a:p>
          <a:p>
            <a:pPr algn="l">
              <a:spcAft>
                <a:spcPts val="0"/>
              </a:spcAft>
              <a:defRPr sz="1600" b="1">
                <a:solidFill>
                  <a:srgbClr val="F5A623"/>
                </a:solidFill>
                <a:latin typeface="Calibri"/>
              </a:defRPr>
            </a:pPr>
            <a:r>
              <a:t>StudioLoom solves all three.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035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4A6"/>
                </a:solidFill>
                <a:latin typeface="Calibri"/>
              </a:defRPr>
            </a:pPr>
            <a:r>
              <a:t>Nanjing International School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Three Problems Every Design Teacher Knows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290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3429000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1. Students Don't Know Themselves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F96167"/>
                </a:solidFill>
                <a:latin typeface="Calibri"/>
              </a:defRPr>
            </a:pPr>
            <a:r>
              <a:t>What we see:</a:t>
            </a:r>
          </a:p>
          <a:p>
            <a:pPr algn="l">
              <a:spcAft>
                <a:spcPts val="12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"I'll do a phone case" — the same safe, familiar project every time. Students can't articulate their strengths, interests, or what drives them.</a:t>
            </a:r>
          </a:p>
          <a:p>
            <a:pPr algn="l">
              <a:spcAft>
                <a:spcPts val="800"/>
              </a:spcAft>
              <a:defRPr sz="1300" b="1">
                <a:solidFill>
                  <a:srgbClr val="F96167"/>
                </a:solidFill>
                <a:latin typeface="Calibri"/>
              </a:defRPr>
            </a:pPr>
            <a:r>
              <a:t>Why it happens:</a:t>
            </a:r>
          </a:p>
          <a:p>
            <a:pPr algn="l">
              <a:spcAft>
                <a:spcPts val="12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Asking teens "What are your strengths?" doesn't work. Direct questions kill trust. They don't have the vocabulary or self-awareness yet.</a:t>
            </a:r>
          </a:p>
          <a:p>
            <a:pPr algn="l">
              <a:spcAft>
                <a:spcPts val="800"/>
              </a:spcAft>
              <a:defRPr sz="1300" b="1">
                <a:solidFill>
                  <a:srgbClr val="F96167"/>
                </a:solidFill>
                <a:latin typeface="Calibri"/>
              </a:defRPr>
            </a:pPr>
            <a:r>
              <a:t>What they actually need: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A guided experience that reveals who they are through scenarios and activities — not interrogation. Discovering their design archetype, values, and a project direction that genuinely excites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17320"/>
            <a:ext cx="34290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417320"/>
            <a:ext cx="342900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5087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2. Students Can't Manage the Journey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0312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What we see:</a:t>
            </a:r>
          </a:p>
          <a:p>
            <a:pPr algn="l">
              <a:spcAft>
                <a:spcPts val="12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Big ambitions, no plan. Students don't know how to break a 10-week project into steps, manage time, or document their process along the way.</a:t>
            </a:r>
          </a:p>
          <a:p>
            <a:pPr algn="l">
              <a:spcAft>
                <a:spcPts val="80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Why it happens:</a:t>
            </a:r>
          </a:p>
          <a:p>
            <a:pPr algn="l">
              <a:spcAft>
                <a:spcPts val="12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Project management is a skill nobody explicitly teaches them. They've never had tools designed for how they work — visual, iterative, messy.</a:t>
            </a:r>
          </a:p>
          <a:p>
            <a:pPr algn="l">
              <a:spcAft>
                <a:spcPts val="80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What they actually need: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Design-cycle planning tools, structured scaffolding on every page, and a portfolio that builds itself as they work — not a blank Google Doc.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417320"/>
            <a:ext cx="34290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417320"/>
            <a:ext cx="3429000" cy="5029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5087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3. Teachers Can't Be Everywhere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210312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6C5CE7"/>
                </a:solidFill>
                <a:latin typeface="Calibri"/>
              </a:defRPr>
            </a:pPr>
            <a:r>
              <a:t>What we see:</a:t>
            </a:r>
          </a:p>
          <a:p>
            <a:pPr algn="l">
              <a:spcAft>
                <a:spcPts val="12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25 students, 25 different projects, 25 different stages. A teacher gets 2-3 minutes per student per lesson if they're lucky.</a:t>
            </a:r>
          </a:p>
          <a:p>
            <a:pPr algn="l">
              <a:spcAft>
                <a:spcPts val="800"/>
              </a:spcAft>
              <a:defRPr sz="1300" b="1">
                <a:solidFill>
                  <a:srgbClr val="6C5CE7"/>
                </a:solidFill>
                <a:latin typeface="Calibri"/>
              </a:defRPr>
            </a:pPr>
            <a:r>
              <a:t>Why it happens:</a:t>
            </a:r>
          </a:p>
          <a:p>
            <a:pPr algn="l">
              <a:spcAft>
                <a:spcPts val="12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Personalised, project-based learning is the gold standard — but the mentoring it requires doesn't scale with one teacher per class.</a:t>
            </a:r>
          </a:p>
          <a:p>
            <a:pPr algn="l">
              <a:spcAft>
                <a:spcPts val="800"/>
              </a:spcAft>
              <a:defRPr sz="1300" b="1">
                <a:solidFill>
                  <a:srgbClr val="6C5CE7"/>
                </a:solidFill>
                <a:latin typeface="Calibri"/>
              </a:defRPr>
            </a:pPr>
            <a:r>
              <a:t>What they actually need: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An AI mentor that knows each student's profile, gives Socratic guidance (never answers), and flags when someone is stuck — so the teacher's limited time goes where it matters most.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How StudioLoom Solves All Three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3429000" cy="5120640"/>
          </a:xfrm>
          <a:prstGeom prst="roundRect">
            <a:avLst/>
          </a:prstGeom>
          <a:solidFill>
            <a:srgbClr val="F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71600"/>
            <a:ext cx="3429000" cy="508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96167"/>
                </a:solidFill>
                <a:latin typeface="Calibri"/>
              </a:defRPr>
            </a:pPr>
            <a:r>
              <a:t>SOLVES PROBLEM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B4F"/>
                </a:solidFill>
                <a:latin typeface="Calibri"/>
              </a:defRPr>
            </a:pPr>
            <a:r>
              <a:t>The Discovery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B4F"/>
                </a:solidFill>
                <a:latin typeface="Calibri"/>
              </a:defRPr>
            </a:pPr>
            <a:r>
              <a:t>A 45-60 minute interactive journey that replaces "tell me about yourself" with activities that reveal who students really 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3154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F96167"/>
                </a:solidFill>
                <a:latin typeface="Calibri"/>
              </a:defRPr>
            </a:pPr>
            <a:r>
              <a:t>7 themed stations: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B4F"/>
                </a:solidFill>
                <a:latin typeface="Calibri"/>
              </a:defRPr>
            </a:pPr>
            <a:r>
              <a:t>Campfire — Working style (binary choices)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B4F"/>
                </a:solidFill>
                <a:latin typeface="Calibri"/>
              </a:defRPr>
            </a:pPr>
            <a:r>
              <a:t>Workshop — Design archetype (scenarios)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B4F"/>
                </a:solidFill>
                <a:latin typeface="Calibri"/>
              </a:defRPr>
            </a:pPr>
            <a:r>
              <a:t>Collection Wall — Interests &amp; values (card sort)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B4F"/>
                </a:solidFill>
                <a:latin typeface="Calibri"/>
              </a:defRPr>
            </a:pPr>
            <a:r>
              <a:t>Window — Empathy patterns (visual scenes)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B4F"/>
                </a:solidFill>
                <a:latin typeface="Calibri"/>
              </a:defRPr>
            </a:pPr>
            <a:r>
              <a:t>Toolkit — Skills &amp; readiness (sliders)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B4F"/>
                </a:solidFill>
                <a:latin typeface="Calibri"/>
              </a:defRPr>
            </a:pPr>
            <a:r>
              <a:t>Crossroads — 3 AI-generated project paths</a:t>
            </a:r>
          </a:p>
          <a:p>
            <a:pPr algn="l">
              <a:spcAft>
                <a:spcPts val="1000"/>
              </a:spcAft>
              <a:defRPr sz="1100" b="0">
                <a:solidFill>
                  <a:srgbClr val="333B4F"/>
                </a:solidFill>
                <a:latin typeface="Calibri"/>
              </a:defRPr>
            </a:pPr>
            <a:r>
              <a:t>Launchpad — Commitment + Grand Reveal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F96167"/>
                </a:solidFill>
                <a:latin typeface="Calibri"/>
              </a:defRPr>
            </a:pPr>
            <a:r>
              <a:t>85% clicking, 15% typing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8A94A6"/>
                </a:solidFill>
                <a:latin typeface="Calibri"/>
              </a:defRPr>
            </a:pPr>
            <a:r>
              <a:t>Based on 16Personalities, VIA Strengths, Ikigai,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8A94A6"/>
                </a:solidFill>
                <a:latin typeface="Calibri"/>
              </a:defRPr>
            </a:pPr>
            <a:r>
              <a:t>and Search Institute 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371600"/>
            <a:ext cx="3429000" cy="512064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4290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50876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SOLVES PROBLEM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7373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B4F"/>
                </a:solidFill>
                <a:latin typeface="Calibri"/>
              </a:defRPr>
            </a:pPr>
            <a:r>
              <a:t>Structured Design Journey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10312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B4F"/>
                </a:solidFill>
                <a:latin typeface="Calibri"/>
              </a:defRPr>
            </a:pPr>
            <a:r>
              <a:t>Every lesson follows the Workshop Model. Every project stage has scaffolding. The portfolio builds itself.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743200"/>
            <a:ext cx="3154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Already built in StudioLoom: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B4F"/>
                </a:solidFill>
                <a:latin typeface="Calibri"/>
              </a:defRPr>
            </a:pPr>
            <a:r>
              <a:t>Design cycle planning board (kanban)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333B4F"/>
                </a:solidFill>
                <a:latin typeface="Calibri"/>
              </a:defRPr>
            </a:pPr>
            <a:r>
              <a:t>12 interactive thinking tools (SCAMPER,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B4F"/>
                </a:solidFill>
                <a:latin typeface="Calibri"/>
              </a:defRPr>
            </a:pPr>
            <a:r>
              <a:t>Six Hats, PMI, Decision Matrix, etc.)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333B4F"/>
                </a:solidFill>
                <a:latin typeface="Calibri"/>
              </a:defRPr>
            </a:pPr>
            <a:r>
              <a:t>Structured lesson pages with 10+ response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B4F"/>
                </a:solidFill>
                <a:latin typeface="Calibri"/>
              </a:defRPr>
            </a:pPr>
            <a:r>
              <a:t>types (text, upload, voice, canvas, matrix)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B4F"/>
                </a:solidFill>
                <a:latin typeface="Calibri"/>
              </a:defRPr>
            </a:pPr>
            <a:r>
              <a:t>Auto-portfolio from student work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B4F"/>
                </a:solidFill>
                <a:latin typeface="Calibri"/>
              </a:defRPr>
            </a:pPr>
            <a:r>
              <a:t>3-tier ELL scaffolding on every activity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333B4F"/>
                </a:solidFill>
                <a:latin typeface="Calibri"/>
              </a:defRPr>
            </a:pPr>
            <a:r>
              <a:t>Effort-gated reflections (real thinking,</a:t>
            </a:r>
          </a:p>
          <a:p>
            <a:pPr algn="l">
              <a:spcAft>
                <a:spcPts val="1000"/>
              </a:spcAft>
              <a:defRPr sz="1100" b="0">
                <a:solidFill>
                  <a:srgbClr val="333B4F"/>
                </a:solidFill>
                <a:latin typeface="Calibri"/>
              </a:defRPr>
            </a:pPr>
            <a:r>
              <a:t>not tick boxes)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Students learn PM skills by doing them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8A94A6"/>
                </a:solidFill>
                <a:latin typeface="Calibri"/>
              </a:defRPr>
            </a:pPr>
            <a:r>
              <a:t>Embedded in the workflow, not taught as theory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371600"/>
            <a:ext cx="3429000" cy="51206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1371600"/>
            <a:ext cx="3429000" cy="508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50876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C5CE7"/>
                </a:solidFill>
                <a:latin typeface="Calibri"/>
              </a:defRPr>
            </a:pPr>
            <a:r>
              <a:t>SOLVES PROBLEM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173736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B4F"/>
                </a:solidFill>
                <a:latin typeface="Calibri"/>
              </a:defRPr>
            </a:pPr>
            <a:r>
              <a:t>AI Mentor + Teacher Cockpit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1945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B4F"/>
                </a:solidFill>
                <a:latin typeface="Calibri"/>
              </a:defRPr>
            </a:pPr>
            <a:r>
              <a:t>An AI design mentor that knows each student, gives Socratic guidance, and escalates to the teacher when it matters.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788920"/>
            <a:ext cx="315468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6C5CE7"/>
                </a:solidFill>
                <a:latin typeface="Calibri"/>
              </a:defRPr>
            </a:pPr>
            <a:r>
              <a:t>For students: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333B4F"/>
                </a:solidFill>
                <a:latin typeface="Calibri"/>
              </a:defRPr>
            </a:pPr>
            <a:r>
              <a:t>Socratic mentor — asks questions, never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B4F"/>
                </a:solidFill>
                <a:latin typeface="Calibri"/>
              </a:defRPr>
            </a:pPr>
            <a:r>
              <a:t>gives answers (300-token cap)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B4F"/>
                </a:solidFill>
                <a:latin typeface="Calibri"/>
              </a:defRPr>
            </a:pPr>
            <a:r>
              <a:t>Adapts to their Discovery profile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B4F"/>
                </a:solidFill>
                <a:latin typeface="Calibri"/>
              </a:defRPr>
            </a:pPr>
            <a:r>
              <a:t>Suggests relevant thinking tools</a:t>
            </a:r>
          </a:p>
          <a:p>
            <a:pPr algn="l">
              <a:spcAft>
                <a:spcPts val="1000"/>
              </a:spcAft>
              <a:defRPr sz="1100" b="0">
                <a:solidFill>
                  <a:srgbClr val="333B4F"/>
                </a:solidFill>
                <a:latin typeface="Calibri"/>
              </a:defRPr>
            </a:pPr>
            <a:r>
              <a:t>Drift detection if they go off track</a:t>
            </a:r>
          </a:p>
          <a:p>
            <a:pPr algn="l">
              <a:spcAft>
                <a:spcPts val="600"/>
              </a:spcAft>
              <a:defRPr sz="1300" b="1">
                <a:solidFill>
                  <a:srgbClr val="6C5CE7"/>
                </a:solidFill>
                <a:latin typeface="Calibri"/>
              </a:defRPr>
            </a:pPr>
            <a:r>
              <a:t>For teachers: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B4F"/>
                </a:solidFill>
                <a:latin typeface="Calibri"/>
              </a:defRPr>
            </a:pPr>
            <a:r>
              <a:t>Live teaching cockpit with student grid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B4F"/>
                </a:solidFill>
                <a:latin typeface="Calibri"/>
              </a:defRPr>
            </a:pPr>
            <a:r>
              <a:t>"Needs Help" flags (3+ min inactive)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B4F"/>
                </a:solidFill>
                <a:latin typeface="Calibri"/>
              </a:defRPr>
            </a:pPr>
            <a:r>
              <a:t>Projector view synced to lesson phases</a:t>
            </a:r>
          </a:p>
          <a:p>
            <a:pPr algn="l">
              <a:spcAft>
                <a:spcPts val="1000"/>
              </a:spcAft>
              <a:defRPr sz="1100" b="0">
                <a:solidFill>
                  <a:srgbClr val="333B4F"/>
                </a:solidFill>
                <a:latin typeface="Calibri"/>
              </a:defRPr>
            </a:pPr>
            <a:r>
              <a:t>Class progress + grading dashboard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6C5CE7"/>
                </a:solidFill>
                <a:latin typeface="Calibri"/>
              </a:defRPr>
            </a:pPr>
            <a:r>
              <a:t>Teacher time goes to humans, not logistics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Discovery Engine: What Happens in 45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4A6"/>
                </a:solidFill>
                <a:latin typeface="Calibri"/>
              </a:defRPr>
            </a:pPr>
            <a:r>
              <a:t>Instead of asking students to describe themselves, we put them in situations where who they are naturally emerges.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5852160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761"/>
                </a:solidFill>
                <a:latin typeface="Calibri"/>
              </a:defRPr>
            </a:pPr>
            <a:r>
              <a:t>The Student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5303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A game world, not a test</a:t>
            </a:r>
          </a:p>
          <a:p>
            <a:pPr algn="l">
              <a:spcAft>
                <a:spcPts val="10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Students walk through 7 themed stations in an illustrated environment. Each station has 5-8 quick activities — clicking cards, dragging rankings, choosing between scenarios, responding to visual scenes.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Every station ends with a reveal</a:t>
            </a:r>
          </a:p>
          <a:p>
            <a:pPr algn="l">
              <a:spcAft>
                <a:spcPts val="10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At the Campfire, they see their working style. At the Workshop, their design archetype appears. At the Collection Wall, their interest map fills in. These instant visual rewards keep engagement high.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The Grand Reveal brings it all together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An animated Ikigai diagram shows where their strengths, interests, values, and realistic skills converge — and suggests 3 personalised project directions they never would have thought of alone.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783080"/>
            <a:ext cx="5029200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761"/>
                </a:solidFill>
                <a:latin typeface="Calibri"/>
              </a:defRPr>
            </a:pPr>
            <a:r>
              <a:t>Why This Works for Teens</a:t>
            </a:r>
          </a:p>
        </p:txBody>
      </p:sp>
      <p:sp>
        <p:nvSpPr>
          <p:cNvPr id="11" name="Oval 10"/>
          <p:cNvSpPr/>
          <p:nvPr/>
        </p:nvSpPr>
        <p:spPr>
          <a:xfrm>
            <a:off x="6812280" y="2359152"/>
            <a:ext cx="164592" cy="164592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230428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6167"/>
                </a:solidFill>
                <a:latin typeface="Calibri"/>
              </a:defRPr>
            </a:pPr>
            <a:r>
              <a:t>Scenarios, not surveys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532888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B4F"/>
                </a:solidFill>
                <a:latin typeface="Calibri"/>
              </a:defRPr>
            </a:pPr>
            <a:r>
              <a:t>"Your friend is panicking — big project due tomorrow. What do you actually do?" A maker grabs materials. A researcher opens tabs. The student reveals their archetype without being asked to self-categorise.</a:t>
            </a:r>
          </a:p>
        </p:txBody>
      </p:sp>
      <p:sp>
        <p:nvSpPr>
          <p:cNvPr id="14" name="Oval 13"/>
          <p:cNvSpPr/>
          <p:nvPr/>
        </p:nvSpPr>
        <p:spPr>
          <a:xfrm>
            <a:off x="6812280" y="3410712"/>
            <a:ext cx="164592" cy="16459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335584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7293"/>
                </a:solidFill>
                <a:latin typeface="Calibri"/>
              </a:defRPr>
            </a:pPr>
            <a:r>
              <a:t>Stealth data capture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3584448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B4F"/>
                </a:solidFill>
                <a:latin typeface="Calibri"/>
              </a:defRPr>
            </a:pPr>
            <a:r>
              <a:t>25+ behavioural signals measured through normal interactions: decision speed, reconsideration rate, how long they dwell on choices. Students never feel tested.</a:t>
            </a:r>
          </a:p>
        </p:txBody>
      </p:sp>
      <p:sp>
        <p:nvSpPr>
          <p:cNvPr id="17" name="Oval 16"/>
          <p:cNvSpPr/>
          <p:nvPr/>
        </p:nvSpPr>
        <p:spPr>
          <a:xfrm>
            <a:off x="6812280" y="4462272"/>
            <a:ext cx="164592" cy="164592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440740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5A82"/>
                </a:solidFill>
                <a:latin typeface="Calibri"/>
              </a:defRPr>
            </a:pPr>
            <a:r>
              <a:t>Research-backed frameworks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4636008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B4F"/>
                </a:solidFill>
                <a:latin typeface="Calibri"/>
              </a:defRPr>
            </a:pPr>
            <a:r>
              <a:t>Built on 16Personalities (26M tests/yr), VIA Character Strengths (validated ages 13-17), Ikigai, and Search Institute Developmental Assets.</a:t>
            </a:r>
          </a:p>
        </p:txBody>
      </p:sp>
      <p:sp>
        <p:nvSpPr>
          <p:cNvPr id="20" name="Oval 19"/>
          <p:cNvSpPr/>
          <p:nvPr/>
        </p:nvSpPr>
        <p:spPr>
          <a:xfrm>
            <a:off x="6812280" y="5513832"/>
            <a:ext cx="164592" cy="164592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545896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C5CE7"/>
                </a:solidFill>
                <a:latin typeface="Calibri"/>
              </a:defRPr>
            </a:pPr>
            <a:r>
              <a:t>Ongoing, not one-shot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5687568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B4F"/>
                </a:solidFill>
                <a:latin typeface="Calibri"/>
              </a:defRPr>
            </a:pPr>
            <a:r>
              <a:t>7 follow-up check-ins across the project track growth, detect drift, and evolve the profile. The first meeting is just the beginning.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Changes for Students and Teachers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5394960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5394960" cy="4572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For Students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8A94A6"/>
                </a:solidFill>
                <a:latin typeface="Calibri"/>
              </a:defRPr>
            </a:pPr>
            <a:r>
              <a:t>Before: "I'll make a phone case"</a:t>
            </a:r>
          </a:p>
          <a:p>
            <a:pPr algn="l">
              <a:spcAft>
                <a:spcPts val="14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After: A personalised Discovery Profile with their design archetype, interest map, signature values, empathy pattern, readiness levels, and 3 AI-generated project directions that genuinely excite them.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8A94A6"/>
                </a:solidFill>
                <a:latin typeface="Calibri"/>
              </a:defRPr>
            </a:pPr>
            <a:r>
              <a:t>Before: No plan, panic at Week 8</a:t>
            </a:r>
          </a:p>
          <a:p>
            <a:pPr algn="l">
              <a:spcAft>
                <a:spcPts val="14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After: A design-cycle planning board that breaks their project into phases, structured scaffolding on every lesson page, 12 thinking tools to work through problems, and a portfolio that builds itself as they go.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8A94A6"/>
                </a:solidFill>
                <a:latin typeface="Calibri"/>
              </a:defRPr>
            </a:pPr>
            <a:r>
              <a:t>Before: Stuck for days, too shy to ask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After: An AI mentor available any time that asks probing questions, suggests relevant tools, nudges them when they drift — but never gives them the answer. Like having a design tutor on call.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394960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371600"/>
            <a:ext cx="5394960" cy="4572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For Teachers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659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8A94A6"/>
                </a:solidFill>
                <a:latin typeface="Calibri"/>
              </a:defRPr>
            </a:pPr>
            <a:r>
              <a:t>Before: "What should I do for my project?"</a:t>
            </a:r>
          </a:p>
          <a:p>
            <a:pPr algn="l">
              <a:spcAft>
                <a:spcPts val="14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After: Students arrive at project planning with a clear direction, self-knowledge, and genuine motivation. The Discovery Profile gives teachers instant insight into each student.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8A94A6"/>
                </a:solidFill>
                <a:latin typeface="Calibri"/>
              </a:defRPr>
            </a:pPr>
            <a:r>
              <a:t>Before: Manually tracking 25 projects</a:t>
            </a:r>
          </a:p>
          <a:p>
            <a:pPr algn="l">
              <a:spcAft>
                <a:spcPts val="14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After: A live teaching cockpit showing every student's status, phase, and progress. AI flags "Needs Help" before students even ask. Projector view synced to lesson phases. Pace feedback after every lesson.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8A94A6"/>
                </a:solidFill>
                <a:latin typeface="Calibri"/>
              </a:defRPr>
            </a:pPr>
            <a:r>
              <a:t>Before: 2-3 min per student if lucky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After: AI handles routine check-ins and scaffolding. Teacher time goes to the human moments: critiques, encouragement, creative breakthroughs, and students who genuinely need expert guidance.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Where We Are and What's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5394960" cy="5212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539496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Already Built &amp; Deployed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10B981"/>
                </a:solidFill>
                <a:latin typeface="Calibri"/>
              </a:defRPr>
            </a:pPr>
            <a:r>
              <a:t>StudioLoom core platform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AI Unit Builder — teachers create full units in minutes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12 interactive AI thinking tools (SCAMPER, Six Hats, etc.)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Student lesson pages with 10+ response types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Design cycle planning board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Auto-portfolio from student work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Live teaching cockpit + projector view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AI Socratic mentor (Haiku 4.5, 300-token cap)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Workshop safety badge system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Grading dashboard with MYP criterion scoring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Open Studio self-directed mode with drift detection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Full drag-and-drop lesson editor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Rotating cycle timetable engine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Live at studioloom-teal.vercel.app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8A94A6"/>
                </a:solidFill>
                <a:latin typeface="Calibri"/>
              </a:defRPr>
            </a:pPr>
            <a:r>
              <a:t>~280 files, ~77,000 lines of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394960" cy="5212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325880"/>
            <a:ext cx="5394960" cy="4572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Discovery Engine: Build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202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96167"/>
                </a:solidFill>
                <a:latin typeface="Calibri"/>
              </a:defRPr>
            </a:pPr>
            <a:r>
              <a:t>Phase 1: Engine Core (8-10 days)</a:t>
            </a:r>
          </a:p>
          <a:p>
            <a:pPr algn="l">
              <a:spcAft>
                <a:spcPts val="1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Data model, 8 interaction components, AI synthesis.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Linear station flow with functional reveals.</a:t>
            </a:r>
          </a:p>
          <a:p>
            <a:pPr algn="l">
              <a:spcAft>
                <a:spcPts val="1200"/>
              </a:spcAft>
              <a:defRPr sz="1200" b="0">
                <a:solidFill>
                  <a:srgbClr val="8A94A6"/>
                </a:solidFill>
                <a:latin typeface="Calibri"/>
              </a:defRPr>
            </a:pPr>
            <a:r>
              <a:t>This is the validation gate — test with real students.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F5A623"/>
                </a:solidFill>
                <a:latin typeface="Calibri"/>
              </a:defRPr>
            </a:pPr>
            <a:r>
              <a:t>Phase 2: Emotional Design (5-7 days)</a:t>
            </a:r>
          </a:p>
          <a:p>
            <a:pPr algn="l">
              <a:spcAft>
                <a:spcPts val="1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Beautiful data visualisations, Ikigai animation,</a:t>
            </a:r>
          </a:p>
          <a:p>
            <a:pPr algn="l">
              <a:spcAft>
                <a:spcPts val="12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mentor personalities, celebration moments.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1C7293"/>
                </a:solidFill>
                <a:latin typeface="Calibri"/>
              </a:defRPr>
            </a:pPr>
            <a:r>
              <a:t>Phase 3: Intelligence (3-4 days)</a:t>
            </a:r>
          </a:p>
          <a:p>
            <a:pPr algn="l">
              <a:spcAft>
                <a:spcPts val="1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Adaptive pacing, cross-station learning, behavioural</a:t>
            </a:r>
          </a:p>
          <a:p>
            <a:pPr algn="l">
              <a:spcAft>
                <a:spcPts val="12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composites. The AI gets smarter about each student.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6C5CE7"/>
                </a:solidFill>
                <a:latin typeface="Calibri"/>
              </a:defRPr>
            </a:pPr>
            <a:r>
              <a:t>Phase 4-5: Polish + Follow-ups (8-12 days)</a:t>
            </a:r>
          </a:p>
          <a:p>
            <a:pPr algn="l">
              <a:spcAft>
                <a:spcPts val="1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Game world, animations, 7 check-in meetings,</a:t>
            </a:r>
          </a:p>
          <a:p>
            <a:pPr algn="l">
              <a:spcAft>
                <a:spcPts val="10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drift detection, profile evolution over time.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60% code reuse from existing platform.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8A94A6"/>
                </a:solidFill>
                <a:latin typeface="Calibri"/>
              </a:defRPr>
            </a:pPr>
            <a:r>
              <a:t>Each phase is independently valuable.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