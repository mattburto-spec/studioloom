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2560320"/>
          </a:xfrm>
          <a:prstGeom prst="rect">
            <a:avLst/>
          </a:prstGeom>
          <a:solidFill>
            <a:srgbClr val="008090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2011680"/>
            <a:ext cx="1828800" cy="1371600"/>
          </a:xfrm>
          <a:prstGeom prst="rect">
            <a:avLst/>
          </a:prstGeom>
          <a:solidFill>
            <a:srgbClr val="00A896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6400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 Metrics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StudioLoom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Integrating Melbourne's Competency Framework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AI-Powered Design Education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0809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5262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 Burton  •  MYP Design &amp; Technology  •  March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New Metrics?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411480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0584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Melbourne Framework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05840" y="1920240"/>
            <a:ext cx="3657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competencies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define what it means to be a capable learner — beyond subject grades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in Learning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foundational competency: the capacity to produce learning of value to self or community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5-level progression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Directed Learner (1) to Unbound Learner (5)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Assessed 1-2 times per year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teacher micro-judgements + student self-reflection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303520" y="1371600"/>
            <a:ext cx="292608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5440680" y="13716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Unbound Learner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303520" y="2029968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008090"/>
          </a:solidFill>
          <a:ln/>
        </p:spPr>
      </p:sp>
      <p:sp>
        <p:nvSpPr>
          <p:cNvPr id="9" name="Text 7"/>
          <p:cNvSpPr/>
          <p:nvPr/>
        </p:nvSpPr>
        <p:spPr>
          <a:xfrm>
            <a:off x="5440680" y="202996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Extended Learner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303520" y="2688336"/>
            <a:ext cx="2286000" cy="502920"/>
          </a:xfrm>
          <a:prstGeom prst="roundRect">
            <a:avLst>
              <a:gd name="adj" fmla="val 14545"/>
            </a:avLst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5440680" y="2688336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Self-Regulated Learner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303520" y="3346704"/>
            <a:ext cx="1965960" cy="502920"/>
          </a:xfrm>
          <a:prstGeom prst="roundRect">
            <a:avLst>
              <a:gd name="adj" fmla="val 14545"/>
            </a:avLst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5440680" y="3346704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Diligent Learner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303520" y="4005072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E8584F"/>
          </a:solidFill>
          <a:ln/>
        </p:spPr>
      </p:sp>
      <p:sp>
        <p:nvSpPr>
          <p:cNvPr id="15" name="Text 13"/>
          <p:cNvSpPr/>
          <p:nvPr/>
        </p:nvSpPr>
        <p:spPr>
          <a:xfrm>
            <a:off x="5440680" y="400507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Directed Learner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03520" y="45720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Progression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Elements of Agency in Learning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building blocks teachers observe and students reflect 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109728" cy="86868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1463040"/>
            <a:ext cx="1719072" cy="86868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53619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18745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Governing own actions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0" y="1463040"/>
            <a:ext cx="109728" cy="868680"/>
          </a:xfrm>
          <a:prstGeom prst="rect">
            <a:avLst/>
          </a:prstGeom>
          <a:solidFill>
            <a:srgbClr val="2D5DA1"/>
          </a:solidFill>
          <a:ln/>
        </p:spPr>
      </p:sp>
      <p:sp>
        <p:nvSpPr>
          <p:cNvPr id="9" name="Shape 7"/>
          <p:cNvSpPr/>
          <p:nvPr/>
        </p:nvSpPr>
        <p:spPr>
          <a:xfrm>
            <a:off x="2852928" y="1463040"/>
            <a:ext cx="1719072" cy="86868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0" name="Text 8"/>
          <p:cNvSpPr/>
          <p:nvPr/>
        </p:nvSpPr>
        <p:spPr>
          <a:xfrm>
            <a:off x="2971800" y="153619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Courage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71800" y="18745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Acting despite adversity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463040"/>
            <a:ext cx="109728" cy="868680"/>
          </a:xfrm>
          <a:prstGeom prst="rect">
            <a:avLst/>
          </a:prstGeom>
          <a:solidFill>
            <a:srgbClr val="00A693"/>
          </a:solidFill>
          <a:ln/>
        </p:spPr>
      </p:sp>
      <p:sp>
        <p:nvSpPr>
          <p:cNvPr id="13" name="Shape 11"/>
          <p:cNvSpPr/>
          <p:nvPr/>
        </p:nvSpPr>
        <p:spPr>
          <a:xfrm>
            <a:off x="4864608" y="1463040"/>
            <a:ext cx="1719072" cy="86868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4" name="Text 12"/>
          <p:cNvSpPr/>
          <p:nvPr/>
        </p:nvSpPr>
        <p:spPr>
          <a:xfrm>
            <a:off x="4983480" y="153619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to New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83480" y="18745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Embracing new ideas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66560" y="1463040"/>
            <a:ext cx="109728" cy="868680"/>
          </a:xfrm>
          <a:prstGeom prst="rect">
            <a:avLst/>
          </a:prstGeom>
          <a:solidFill>
            <a:srgbClr val="E8584F"/>
          </a:solidFill>
          <a:ln/>
        </p:spPr>
      </p:sp>
      <p:sp>
        <p:nvSpPr>
          <p:cNvPr id="17" name="Shape 15"/>
          <p:cNvSpPr/>
          <p:nvPr/>
        </p:nvSpPr>
        <p:spPr>
          <a:xfrm>
            <a:off x="6876288" y="1463040"/>
            <a:ext cx="1719072" cy="86868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8" name="Text 16"/>
          <p:cNvSpPr/>
          <p:nvPr/>
        </p:nvSpPr>
        <p:spPr>
          <a:xfrm>
            <a:off x="6995160" y="153619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Reflective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95160" y="18745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from experience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2514600"/>
            <a:ext cx="109728" cy="868680"/>
          </a:xfrm>
          <a:prstGeom prst="rect">
            <a:avLst/>
          </a:prstGeom>
          <a:solidFill>
            <a:srgbClr val="D4457E"/>
          </a:solidFill>
          <a:ln/>
        </p:spPr>
      </p:sp>
      <p:sp>
        <p:nvSpPr>
          <p:cNvPr id="21" name="Shape 19"/>
          <p:cNvSpPr/>
          <p:nvPr/>
        </p:nvSpPr>
        <p:spPr>
          <a:xfrm>
            <a:off x="841248" y="2514600"/>
            <a:ext cx="1719072" cy="86868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258775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Alliances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29260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networks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0" y="2514600"/>
            <a:ext cx="109728" cy="86868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5" name="Shape 23"/>
          <p:cNvSpPr/>
          <p:nvPr/>
        </p:nvSpPr>
        <p:spPr>
          <a:xfrm>
            <a:off x="2852928" y="2514600"/>
            <a:ext cx="1719072" cy="86868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6" name="Text 24"/>
          <p:cNvSpPr/>
          <p:nvPr/>
        </p:nvSpPr>
        <p:spPr>
          <a:xfrm>
            <a:off x="2971800" y="258775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971800" y="29260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Pursuing ambitions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2514600"/>
            <a:ext cx="109728" cy="868680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29" name="Shape 27"/>
          <p:cNvSpPr/>
          <p:nvPr/>
        </p:nvSpPr>
        <p:spPr>
          <a:xfrm>
            <a:off x="4864608" y="2514600"/>
            <a:ext cx="1719072" cy="86868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0" name="Text 28"/>
          <p:cNvSpPr/>
          <p:nvPr/>
        </p:nvSpPr>
        <p:spPr>
          <a:xfrm>
            <a:off x="4983480" y="258775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&amp; Craft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983480" y="29260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ability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766560" y="2514600"/>
            <a:ext cx="109728" cy="868680"/>
          </a:xfrm>
          <a:prstGeom prst="rect">
            <a:avLst/>
          </a:prstGeom>
          <a:solidFill>
            <a:srgbClr val="50C878"/>
          </a:solidFill>
          <a:ln/>
        </p:spPr>
      </p:sp>
      <p:sp>
        <p:nvSpPr>
          <p:cNvPr id="33" name="Shape 31"/>
          <p:cNvSpPr/>
          <p:nvPr/>
        </p:nvSpPr>
        <p:spPr>
          <a:xfrm>
            <a:off x="6876288" y="2514600"/>
            <a:ext cx="1719072" cy="86868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4" name="Text 32"/>
          <p:cNvSpPr/>
          <p:nvPr/>
        </p:nvSpPr>
        <p:spPr>
          <a:xfrm>
            <a:off x="6995160" y="258775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Dialogue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995160" y="29260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through talk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31520" y="3566160"/>
            <a:ext cx="109728" cy="868680"/>
          </a:xfrm>
          <a:prstGeom prst="rect">
            <a:avLst/>
          </a:prstGeom>
          <a:solidFill>
            <a:srgbClr val="8B5E3C"/>
          </a:solidFill>
          <a:ln/>
        </p:spPr>
      </p:sp>
      <p:sp>
        <p:nvSpPr>
          <p:cNvPr id="37" name="Shape 35"/>
          <p:cNvSpPr/>
          <p:nvPr/>
        </p:nvSpPr>
        <p:spPr>
          <a:xfrm>
            <a:off x="841248" y="3566160"/>
            <a:ext cx="1719072" cy="86868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8" name="Text 36"/>
          <p:cNvSpPr/>
          <p:nvPr/>
        </p:nvSpPr>
        <p:spPr>
          <a:xfrm>
            <a:off x="960120" y="363931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60120" y="39776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feedback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743200" y="3566160"/>
            <a:ext cx="109728" cy="868680"/>
          </a:xfrm>
          <a:prstGeom prst="rect">
            <a:avLst/>
          </a:prstGeom>
          <a:solidFill>
            <a:srgbClr val="607D8B"/>
          </a:solidFill>
          <a:ln/>
        </p:spPr>
      </p:sp>
      <p:sp>
        <p:nvSpPr>
          <p:cNvPr id="41" name="Shape 39"/>
          <p:cNvSpPr/>
          <p:nvPr/>
        </p:nvSpPr>
        <p:spPr>
          <a:xfrm>
            <a:off x="2852928" y="3566160"/>
            <a:ext cx="1719072" cy="86868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42" name="Text 40"/>
          <p:cNvSpPr/>
          <p:nvPr/>
        </p:nvSpPr>
        <p:spPr>
          <a:xfrm>
            <a:off x="2971800" y="363931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Ambiguity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2971800" y="39776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uncertainty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54880" y="3566160"/>
            <a:ext cx="109728" cy="868680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45" name="Shape 43"/>
          <p:cNvSpPr/>
          <p:nvPr/>
        </p:nvSpPr>
        <p:spPr>
          <a:xfrm>
            <a:off x="4864608" y="3566160"/>
            <a:ext cx="1719072" cy="86868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46" name="Text 44"/>
          <p:cNvSpPr/>
          <p:nvPr/>
        </p:nvSpPr>
        <p:spPr>
          <a:xfrm>
            <a:off x="4983480" y="363931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Mastery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983480" y="39776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Developing expertise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766560" y="3566160"/>
            <a:ext cx="109728" cy="868680"/>
          </a:xfrm>
          <a:prstGeom prst="rect">
            <a:avLst/>
          </a:prstGeom>
          <a:solidFill>
            <a:srgbClr val="B0B800"/>
          </a:solidFill>
          <a:ln/>
        </p:spPr>
      </p:sp>
      <p:sp>
        <p:nvSpPr>
          <p:cNvPr id="49" name="Shape 47"/>
          <p:cNvSpPr/>
          <p:nvPr/>
        </p:nvSpPr>
        <p:spPr>
          <a:xfrm>
            <a:off x="6876288" y="3566160"/>
            <a:ext cx="1719072" cy="86868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50" name="Text 48"/>
          <p:cNvSpPr/>
          <p:nvPr/>
        </p:nvSpPr>
        <p:spPr>
          <a:xfrm>
            <a:off x="6995160" y="363931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995160" y="39776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 critically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 in StudioLoom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2468880" cy="3474720"/>
          </a:xfrm>
          <a:prstGeom prst="roundRect">
            <a:avLst>
              <a:gd name="adj" fmla="val 5556"/>
            </a:avLst>
          </a:prstGeom>
          <a:solidFill>
            <a:srgbClr val="FFFFFF">
              <a:alpha val="9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554480" y="1508760"/>
            <a:ext cx="731520" cy="731520"/>
          </a:xfrm>
          <a:prstGeom prst="ellipse">
            <a:avLst/>
          </a:prstGeom>
          <a:solidFill>
            <a:srgbClr val="008090"/>
          </a:solidFill>
          <a:ln/>
        </p:spPr>
      </p:sp>
      <p:sp>
        <p:nvSpPr>
          <p:cNvPr id="5" name="Text 3"/>
          <p:cNvSpPr/>
          <p:nvPr/>
        </p:nvSpPr>
        <p:spPr>
          <a:xfrm>
            <a:off x="1554480" y="15087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Configures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834640"/>
            <a:ext cx="1920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NM on for a unit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2-4 elements to focus on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specific activities as checkpoints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66160" y="1280160"/>
            <a:ext cx="2468880" cy="3474720"/>
          </a:xfrm>
          <a:prstGeom prst="roundRect">
            <a:avLst>
              <a:gd name="adj" fmla="val 5556"/>
            </a:avLst>
          </a:prstGeom>
          <a:solidFill>
            <a:srgbClr val="FFFFFF">
              <a:alpha val="9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389120" y="150876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0" y="15087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749040" y="2377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Reflect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840480" y="2834640"/>
            <a:ext cx="1920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30-second self-assessment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3-point scale per element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Appears inline after activity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0" y="1280160"/>
            <a:ext cx="2468880" cy="3474720"/>
          </a:xfrm>
          <a:prstGeom prst="roundRect">
            <a:avLst>
              <a:gd name="adj" fmla="val 5556"/>
            </a:avLst>
          </a:prstGeom>
          <a:solidFill>
            <a:srgbClr val="FFFFFF">
              <a:alpha val="9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223760" y="1508760"/>
            <a:ext cx="731520" cy="73152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/>
          <p:nvPr/>
        </p:nvSpPr>
        <p:spPr>
          <a:xfrm>
            <a:off x="7223760" y="15087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583680" y="2377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Observes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75120" y="2834640"/>
            <a:ext cx="1920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4-point observation per element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evidence comments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from progress page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91840" y="23774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8090"/>
                </a:solidFill>
              </a:rPr>
              <a:t>→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126480" y="23774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8090"/>
                </a:solidFill>
              </a:rPr>
              <a:t>→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 Experience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reflection — takes 20-30 seconds, appears inline after an activity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371600" y="1463040"/>
            <a:ext cx="6400800" cy="310896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73736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reflection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737360" y="2148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Acting with Autonomy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737360" y="23774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your own choices about how to learn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737360" y="269748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E9ECEF"/>
          </a:solidFill>
          <a:ln/>
        </p:spPr>
      </p:sp>
      <p:sp>
        <p:nvSpPr>
          <p:cNvPr id="9" name="Text 7"/>
          <p:cNvSpPr/>
          <p:nvPr/>
        </p:nvSpPr>
        <p:spPr>
          <a:xfrm>
            <a:off x="1737360" y="26974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was hard for me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703320" y="269748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E9ECEF"/>
          </a:solidFill>
          <a:ln/>
        </p:spPr>
      </p:sp>
      <p:sp>
        <p:nvSpPr>
          <p:cNvPr id="11" name="Text 9"/>
          <p:cNvSpPr/>
          <p:nvPr/>
        </p:nvSpPr>
        <p:spPr>
          <a:xfrm>
            <a:off x="3703320" y="26974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getting there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0" y="269748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0" y="26974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did this well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737360" y="3246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Reflective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737360" y="34747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 about what worked and what didn't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737360" y="379476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E9ECEF"/>
          </a:solidFill>
          <a:ln/>
        </p:spPr>
      </p:sp>
      <p:sp>
        <p:nvSpPr>
          <p:cNvPr id="17" name="Text 15"/>
          <p:cNvSpPr/>
          <p:nvPr/>
        </p:nvSpPr>
        <p:spPr>
          <a:xfrm>
            <a:off x="1737360" y="37947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was hard for me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703320" y="379476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3703320" y="37947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getting there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69280" y="379476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E9ECEF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0" y="37947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did this well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Experience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840480" cy="347472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05840" y="1325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Configuration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05840" y="1783080"/>
            <a:ext cx="32918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NM on/off per unit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competency (Agency in Learning)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elements to focus on (2-4)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activities as checkpoints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takes ~2 minutes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846320" y="1188720"/>
            <a:ext cx="3840480" cy="347472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0" y="1325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Snap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120640" y="1783080"/>
            <a:ext cx="32918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4-point slider per element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evidence comment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from progress page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in Teaching Mode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60 seconds per student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120640" y="33832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Scale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120640" y="3703320"/>
            <a:ext cx="749808" cy="320040"/>
          </a:xfrm>
          <a:prstGeom prst="roundRect">
            <a:avLst>
              <a:gd name="adj" fmla="val 22857"/>
            </a:avLst>
          </a:prstGeom>
          <a:solidFill>
            <a:srgbClr val="FEE2E2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0" y="3703320"/>
            <a:ext cx="749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961888" y="3703320"/>
            <a:ext cx="749808" cy="320040"/>
          </a:xfrm>
          <a:prstGeom prst="roundRect">
            <a:avLst>
              <a:gd name="adj" fmla="val 22857"/>
            </a:avLst>
          </a:prstGeom>
          <a:solidFill>
            <a:srgbClr val="FEF3C7"/>
          </a:solidFill>
          <a:ln/>
        </p:spPr>
      </p:sp>
      <p:sp>
        <p:nvSpPr>
          <p:cNvPr id="13" name="Text 11"/>
          <p:cNvSpPr/>
          <p:nvPr/>
        </p:nvSpPr>
        <p:spPr>
          <a:xfrm>
            <a:off x="5961888" y="3703320"/>
            <a:ext cx="749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Developing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803136" y="3703320"/>
            <a:ext cx="749808" cy="320040"/>
          </a:xfrm>
          <a:prstGeom prst="roundRect">
            <a:avLst>
              <a:gd name="adj" fmla="val 22857"/>
            </a:avLst>
          </a:prstGeom>
          <a:solidFill>
            <a:srgbClr val="D1FAE5"/>
          </a:solidFill>
          <a:ln/>
        </p:spPr>
      </p:sp>
      <p:sp>
        <p:nvSpPr>
          <p:cNvPr id="15" name="Text 13"/>
          <p:cNvSpPr/>
          <p:nvPr/>
        </p:nvSpPr>
        <p:spPr>
          <a:xfrm>
            <a:off x="6803136" y="3703320"/>
            <a:ext cx="749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644384" y="3703320"/>
            <a:ext cx="749808" cy="320040"/>
          </a:xfrm>
          <a:prstGeom prst="roundRect">
            <a:avLst>
              <a:gd name="adj" fmla="val 22857"/>
            </a:avLst>
          </a:prstGeom>
          <a:solidFill>
            <a:srgbClr val="DBEAFE"/>
          </a:solidFill>
          <a:ln/>
        </p:spPr>
      </p:sp>
      <p:sp>
        <p:nvSpPr>
          <p:cNvPr id="17" name="Text 15"/>
          <p:cNvSpPr/>
          <p:nvPr/>
        </p:nvSpPr>
        <p:spPr>
          <a:xfrm>
            <a:off x="7644384" y="3703320"/>
            <a:ext cx="749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Extending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StudioLoom + New Metrics?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261872"/>
            <a:ext cx="274320" cy="274320"/>
          </a:xfrm>
          <a:prstGeom prst="ellipse">
            <a:avLst/>
          </a:prstGeom>
          <a:solidFill>
            <a:srgbClr val="008090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1188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is a natural home for Agency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88720" y="153619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already exercise autonomy, courage, and reflection in design projects. NM makes these visible.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2176272"/>
            <a:ext cx="274320" cy="2743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21031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captures what teachers miss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245059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Assistant already tracks student behavior — future: passive signals from AI conversations feed NM profiles automatically.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3090672"/>
            <a:ext cx="274320" cy="27432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30175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data sources, one profile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336499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self-reflection + teacher observation triangulate for richer, more defensible competency judgements.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4005072"/>
            <a:ext cx="274320" cy="274320"/>
          </a:xfrm>
          <a:prstGeom prst="ellipse">
            <a:avLst/>
          </a:prstGeom>
          <a:solidFill>
            <a:srgbClr val="E8584F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39319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friction by design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427939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30-second student reflection, 60-second teacher observation. NM data collection shouldn't compete with design learning time.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965960" cy="3291840"/>
          </a:xfrm>
          <a:prstGeom prst="roundRect">
            <a:avLst>
              <a:gd name="adj" fmla="val 5581"/>
            </a:avLst>
          </a:prstGeom>
          <a:solidFill>
            <a:srgbClr val="FFFFFF">
              <a:alpha val="8000"/>
            </a:srgbClr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371600"/>
            <a:ext cx="1691640" cy="320040"/>
          </a:xfrm>
          <a:prstGeom prst="roundRect">
            <a:avLst>
              <a:gd name="adj" fmla="val 22857"/>
            </a:avLst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37160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Trial-Ready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82880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Now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2194560"/>
            <a:ext cx="1691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NM per unit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self-reflection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observation snap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data collection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06040" y="1188720"/>
            <a:ext cx="1965960" cy="3291840"/>
          </a:xfrm>
          <a:prstGeom prst="roundRect">
            <a:avLst>
              <a:gd name="adj" fmla="val 5581"/>
            </a:avLst>
          </a:prstGeom>
          <a:solidFill>
            <a:srgbClr val="FFFFFF">
              <a:alpha val="8000"/>
            </a:srgbClr>
          </a:solidFill>
          <a:ln w="19050">
            <a:solidFill>
              <a:srgbClr val="0080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0" y="1371600"/>
            <a:ext cx="1691640" cy="320040"/>
          </a:xfrm>
          <a:prstGeom prst="roundRect">
            <a:avLst>
              <a:gd name="adj" fmla="val 22857"/>
            </a:avLst>
          </a:prstGeom>
          <a:solidFill>
            <a:srgbClr val="008090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0" y="137160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Mode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0" y="182880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0" y="2194560"/>
            <a:ext cx="1691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from live dashboard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 indicators on student grid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Quick-swipe observation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188720"/>
            <a:ext cx="1965960" cy="3291840"/>
          </a:xfrm>
          <a:prstGeom prst="roundRect">
            <a:avLst>
              <a:gd name="adj" fmla="val 5581"/>
            </a:avLst>
          </a:prstGeom>
          <a:solidFill>
            <a:srgbClr val="FFFFFF">
              <a:alpha val="8000"/>
            </a:srgbClr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92040" y="1371600"/>
            <a:ext cx="1691640" cy="320040"/>
          </a:xfrm>
          <a:prstGeom prst="roundRect">
            <a:avLst>
              <a:gd name="adj" fmla="val 22857"/>
            </a:avLst>
          </a:prstGeom>
          <a:solidFill>
            <a:srgbClr val="F5A623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137160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92040" y="182880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2194560"/>
            <a:ext cx="1691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Competency profiles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 radar charts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CSV/PDF export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03720" y="1188720"/>
            <a:ext cx="1965960" cy="3291840"/>
          </a:xfrm>
          <a:prstGeom prst="roundRect">
            <a:avLst>
              <a:gd name="adj" fmla="val 5581"/>
            </a:avLst>
          </a:prstGeom>
          <a:solidFill>
            <a:srgbClr val="FFFFFF">
              <a:alpha val="8000"/>
            </a:srgbClr>
          </a:solidFill>
          <a:ln w="19050">
            <a:solidFill>
              <a:srgbClr val="E8584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40880" y="1371600"/>
            <a:ext cx="1691640" cy="320040"/>
          </a:xfrm>
          <a:prstGeom prst="roundRect">
            <a:avLst>
              <a:gd name="adj" fmla="val 22857"/>
            </a:avLst>
          </a:prstGeom>
          <a:solidFill>
            <a:srgbClr val="E8584F"/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0" y="137160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040880" y="182880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040880" y="2194560"/>
            <a:ext cx="1691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suggests elements per activity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signals from AI mentor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Auto-checkpoint suggestions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0" cy="5143500"/>
          </a:xfrm>
          <a:prstGeom prst="rect">
            <a:avLst/>
          </a:prstGeom>
          <a:solidFill>
            <a:srgbClr val="008090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371600" y="13716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 to Trial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is built and ready for my trial class this term.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in Learning is a natural fit for MYP Design — students already exercise these competencies. StudioLoom just makes them visible and measurable.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friction: 30s student reflection, 60s teacher observation. Integrates into existing workflow, not a separate system.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0809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5262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 Burton  •  StudioLoom  •  New Metrics Trial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 Metrics in StudioLoom</dc:title>
  <dc:subject>PptxGenJS Presentation</dc:subject>
  <dc:creator>Matt Burton</dc:creator>
  <cp:lastModifiedBy>Matt Burton</cp:lastModifiedBy>
  <cp:revision>1</cp:revision>
  <dcterms:created xsi:type="dcterms:W3CDTF">2026-03-20T02:17:35Z</dcterms:created>
  <dcterms:modified xsi:type="dcterms:W3CDTF">2026-03-20T02:17:35Z</dcterms:modified>
</cp:coreProperties>
</file>